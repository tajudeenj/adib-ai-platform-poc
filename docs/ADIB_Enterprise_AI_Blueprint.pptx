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7df7ace-e7e2-daf5-3486-fa550c6c3b18}">
          <p14:sldIdLst>
            <p14:sldId id="256"/>
            <p14:sldId id="257"/>
          </p14:sldIdLst>
        </p14:section>
        <p14:section name="Context" id="{1993f165-1ca9-af8b-a0b1-306b0e1a734e}">
          <p14:sldIdLst>
            <p14:sldId id="258"/>
            <p14:sldId id="259"/>
            <p14:sldId id="260"/>
          </p14:sldIdLst>
        </p14:section>
        <p14:section name="Architecture" id="{fdb682e7-a709-ae77-fc16-0b850bf9501b}">
          <p14:sldIdLst>
            <p14:sldId id="261"/>
            <p14:sldId id="262"/>
            <p14:sldId id="263"/>
          </p14:sldIdLst>
        </p14:section>
        <p14:section name="Governance" id="{7c3097d6-645e-fc5a-57de-23d749cecf47}">
          <p14:sldIdLst>
            <p14:sldId id="264"/>
            <p14:sldId id="265"/>
            <p14:sldId id="266"/>
          </p14:sldIdLst>
        </p14:section>
        <p14:section name="Delivery" id="{dc24d4c2-67c0-cd3b-98d2-af60c7125aa3}">
          <p14:sldIdLst>
            <p14:sldId id="267"/>
            <p14:sldId id="268"/>
            <p14:sldId id="269"/>
            <p14:sldId id="270"/>
          </p14:sldIdLst>
        </p14:section>
        <p14:section name="Proof in code" id="{f35cfbec-8f70-aa6a-6fe5-d211033b4a89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Execution" id="{66483822-2d07-7521-fad9-027cc54387ba}">
          <p14:sldIdLst>
            <p14:sldId id="277"/>
            <p14:sldId id="278"/>
          </p14:sldIdLst>
        </p14:section>
        <p14:section name="Operating model" id="{265ba52b-471d-169b-771a-22fbfeeae20b}">
          <p14:sldIdLst>
            <p14:sldId id="279"/>
            <p14:sldId id="280"/>
            <p14:sldId id="281"/>
          </p14:sldIdLst>
        </p14:section>
        <p14:section name="Close" id="{a48dd8ba-b422-b22a-0b97-0af5648c3ac5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most enterprise AI fails at integration and governance, not at the model. This blueprint shows how ADIB scales AI safely by building on what we already run: our integration estate, our DRB governance, and our Sharia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to remember: one platform, six gates, ninety days. The ask is endorsement of a platform-first approach, not a big-bang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CBUAE press release 23 Feb 2026 and Guidance Note (rulebook.centralbank.ae); The National, 23 Feb 2026; The Asian Banker on FAB FY2025 results; The National, 2 Jun 2026 on the Evident AI Index MEA. AAOIFI: no AI standard as of August 2026; its recent governance work covers digital Islamic banks. The Guidance Note is non-binding but expected to feature in supervisory dialogue. Say: the window to lead on Sharia-aligned AI is open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cost and risk, not technology. Pilot sprawl means every team rebuilds the same controls. Then pivot: ADIB has the mandate, the technology and the in-house proof to fix this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principles are the test every design decision is checked against. Stress integration-first: this is where most banks fail, and where my 25 years of integration work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The two highlighted layers are where ADIB differentiates: the AI Gateway is the single control point for every model call, and the tools layer exposes our existing integration estate to agents through MCP. Governance is a column, not a layer, because it applies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we do not rebuild the bank for AI. Each MCP server is a narrow, least-privilege tool over an API we already run and secure. Mention the FIRCO MCP server as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decision has an explicit trade-off; that is what makes it an architecture decision rather than a preference. Full ADR documents follow the standard template: context, options considered, decision,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extends the Design Review Board process the EA team already runs, so it is not a new bureaucracy. The gates scale with risk: a Tier 1 productivity tool passes quickly; a Tier 3 decision agent gets the full treatment. The audit ledger comes from my governance framework built for the Agentathon.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Tiering is what keeps governance fast. Most use cases are Tier 1 or 2. Only decisions that affect customers or regulatory outcomes get the full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CBUAE Guidance Note of February 2026 is non-binding but signals supervisory expectations; it links to the 2022 Model Management Standards. The Sharia row is ADIB-specific and a strong differentiator versus conventional banks.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lifecycle, two toolchains. For classic ML: registry, champion-challenger, drift. For GenAI: the model is rented, so what we version and test is the prompt, the retrieval and the agent’s tools. Evals in CI/CD are the GenAI equivalent of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dot here is something already prototyped or designed. Positions are indicative; the intake gate scores them properly. Gold dots are the recommended first lighthouses.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Pause here. Each item is real and can be demoed. The AED 1.5M figure is from the delivery impact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live demo goes. Show the agent screening a sample trade, raising red flags, and stopping for investigator approval. Then show the audit ledger entry. KPIs get baselined in the pilot; do not quote improvement numbers until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live here. It takes about one second and prints each step. Every step maps to a slide in the blueprint: this is the point where the proposal stops being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controls in one function: inventory, masking, budget, routing, audit. Point out that the prompt is stored as a hash, so the audit trail itself never becomes a data-leak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"how do you stop an agent doing something harmful". Permissions are enforced by the platform, and decisions with consequences always have a human owner. Also covers the CBUAE human-oversight expectation.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step 8 of the demo live: edit history and watch verification fail at the exact record. This is what makes AI decisions defensible to Internal Audit and the regulator.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yourself before anyone asks. It shows maturity: the POC proves the harness and the controls, not real-world accuracy. The same harness runs in CI and blocks a release if thresholds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mode is the key de-risking step: the agent works on live alerts in parallel with investigators, and we compare outcomes before it influences any real decision. This reuses the bank’s Java and integration estate; nothing core is rebuilt.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"where do we start". Nothing here needs a big budget: week 1 and 2 are decisions, week 3 reuses existing Azure and APIC, week 4 reuses the POC. Shadow-AI check: ask Cyber for proxy logs of public AI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RACI, to be confirmed in the AI Review Board charter. For TBML the accountable business owner is Compliance / Financial Crime. Squad size is small on purpose: the platform reuses existing teams rather than creating a parallel IT organisation.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and spoke avoids both extremes: a central team that becomes a bottleneck, and fully federated teams that repeat each other. The last line describes the role I am applying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deliberately small and concrete: foundation plus one lighthouse. Value is shown inside 90 days, and the platform investment grows only as adoption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invented numbers: targets are set per use case at intake against a measured baseline. This answers the CFO question before it is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three concrete, low-risk asks. Then invite questions. Good closing question to ask them: what is the AI Office’s first 90-day priority, platform, governance or quick wins?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48640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ADIB Enterprise AI Blueprint  |  For discussion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Enterprise AI Blueprint for ADIB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From scattered pilots to a governed, Sharia-aligned AI platform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Proposal to the Chief AI Office  ·  Tajudeen Jalaudin, Senior Solution Architect  ·  October 2026</a:t>
            </a:r>
            <a:endParaRPr lang="en-US" sz="1300" dirty="0"/>
          </a:p>
        </p:txBody>
      </p:sp>
      <p:sp>
        <p:nvSpPr>
          <p:cNvPr id="5" name="cover star large"/>
          <p:cNvSpPr/>
          <p:nvPr/>
        </p:nvSpPr>
        <p:spPr>
          <a:xfrm>
            <a:off x="8595360" y="21031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6" name="cover star large"/>
          <p:cNvSpPr/>
          <p:nvPr/>
        </p:nvSpPr>
        <p:spPr>
          <a:xfrm rot="2700000">
            <a:off x="8595360" y="21031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7" name="cover star inner"/>
          <p:cNvSpPr/>
          <p:nvPr/>
        </p:nvSpPr>
        <p:spPr>
          <a:xfrm>
            <a:off x="9006840" y="2514600"/>
            <a:ext cx="155448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E8B7A"/>
            </a:solidFill>
            <a:prstDash val="solid"/>
          </a:ln>
        </p:spPr>
      </p:sp>
      <p:sp>
        <p:nvSpPr>
          <p:cNvPr id="8" name="cover star inner"/>
          <p:cNvSpPr/>
          <p:nvPr/>
        </p:nvSpPr>
        <p:spPr>
          <a:xfrm rot="2700000">
            <a:off x="9006840" y="2514600"/>
            <a:ext cx="155448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E8B7A"/>
            </a:solidFill>
            <a:prstDash val="solid"/>
          </a:ln>
        </p:spPr>
      </p:sp>
      <p:sp>
        <p:nvSpPr>
          <p:cNvPr id="9" name="cover star small"/>
          <p:cNvSpPr/>
          <p:nvPr/>
        </p:nvSpPr>
        <p:spPr>
          <a:xfrm>
            <a:off x="10927080" y="777240"/>
            <a:ext cx="6400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0" name="cover star small"/>
          <p:cNvSpPr/>
          <p:nvPr/>
        </p:nvSpPr>
        <p:spPr>
          <a:xfrm rot="2700000">
            <a:off x="10927080" y="777240"/>
            <a:ext cx="6400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1" name="cover star tiny"/>
          <p:cNvSpPr/>
          <p:nvPr/>
        </p:nvSpPr>
        <p:spPr>
          <a:xfrm>
            <a:off x="8275320" y="553212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2" name="cover star tiny"/>
          <p:cNvSpPr/>
          <p:nvPr/>
        </p:nvSpPr>
        <p:spPr>
          <a:xfrm rot="2700000">
            <a:off x="8275320" y="5532120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E8B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stat card 1"/>
          <p:cNvSpPr/>
          <p:nvPr/>
        </p:nvSpPr>
        <p:spPr>
          <a:xfrm>
            <a:off x="54864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shared AI platform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Gateway, agents, knowledge, tools and LLMOps that every use case reuses</a:t>
            </a:r>
            <a:endParaRPr lang="en-US" sz="1250" dirty="0"/>
          </a:p>
        </p:txBody>
      </p:sp>
      <p:sp>
        <p:nvSpPr>
          <p:cNvPr id="9" name="stat card 2"/>
          <p:cNvSpPr/>
          <p:nvPr/>
        </p:nvSpPr>
        <p:spPr>
          <a:xfrm>
            <a:off x="429768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governance gates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From intake to production, extending the EA Design Review Board we already run</a:t>
            </a:r>
            <a:endParaRPr lang="en-US" sz="1250" dirty="0"/>
          </a:p>
        </p:txBody>
      </p:sp>
      <p:sp>
        <p:nvSpPr>
          <p:cNvPr id="13" name="stat card 3"/>
          <p:cNvSpPr/>
          <p:nvPr/>
        </p:nvSpPr>
        <p:spPr>
          <a:xfrm>
            <a:off x="8046720" y="141732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days to foundation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Production-ready platform plus the first lighthouse use case in pilot</a:t>
            </a:r>
            <a:endParaRPr lang="en-US" sz="1250" dirty="0"/>
          </a:p>
        </p:txBody>
      </p:sp>
      <p:sp>
        <p:nvSpPr>
          <p:cNvPr id="17" name="ask banner"/>
          <p:cNvSpPr/>
          <p:nvPr/>
        </p:nvSpPr>
        <p:spPr>
          <a:xfrm>
            <a:off x="548640" y="4206240"/>
            <a:ext cx="1106424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389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proposal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006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Move ADIB from isolated AI pilots to a platform-first model: build the controls once, reuse them everywhere.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Govern by design: risk-tiered approvals, human-in-the-loop for adverse decisions, and a tamper-evident audit trail.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Start with proof: a working POC of the platform runs today, with the TBML Investigation Agent as the first lighthouse.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landscape: regulator, peers and Sharia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landscape card"/>
          <p:cNvSpPr/>
          <p:nvPr/>
        </p:nvSpPr>
        <p:spPr>
          <a:xfrm>
            <a:off x="548640" y="137160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Regulator circle"/>
          <p:cNvSpPr/>
          <p:nvPr/>
        </p:nvSpPr>
        <p:spPr>
          <a:xfrm>
            <a:off x="822960" y="15727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Regulat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327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CBUAE Guidance Note on responsible AI and ML, February 2026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Board and senior management accountable for AI outcomes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Customers can request human review of AI decisions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Covers GenAI and LLMs; links to Model Management Standards</a:t>
            </a:r>
            <a:endParaRPr lang="en-US" sz="1350" dirty="0"/>
          </a:p>
        </p:txBody>
      </p:sp>
      <p:sp>
        <p:nvSpPr>
          <p:cNvPr id="10" name="landscape card"/>
          <p:cNvSpPr/>
          <p:nvPr/>
        </p:nvSpPr>
        <p:spPr>
          <a:xfrm>
            <a:off x="4297680" y="137160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eers circle"/>
          <p:cNvSpPr/>
          <p:nvPr/>
        </p:nvSpPr>
        <p:spPr>
          <a:xfrm>
            <a:off x="4572000" y="1572768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Pe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7327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423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FAB: 1,000+ Copilot agents deployed, 30+ AI solutions in build, a central AI hub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Evident AI Index MEA 2026: Emirates NBD 1st, FAB 3rd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market has moved from pilots to scale</a:t>
            </a:r>
            <a:endParaRPr lang="en-US" sz="1350" dirty="0"/>
          </a:p>
        </p:txBody>
      </p:sp>
      <p:sp>
        <p:nvSpPr>
          <p:cNvPr id="15" name="landscape card"/>
          <p:cNvSpPr/>
          <p:nvPr/>
        </p:nvSpPr>
        <p:spPr>
          <a:xfrm>
            <a:off x="8046720" y="1371600"/>
            <a:ext cx="34747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ria circle"/>
          <p:cNvSpPr/>
          <p:nvPr/>
        </p:nvSpPr>
        <p:spPr>
          <a:xfrm>
            <a:off x="8321040" y="157276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hari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73278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Sharia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423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Higher Sharia Authority is the supreme Sharia body for UAE banks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 AAOIFI standard on AI yet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Sharia-aligned AI governance is still undefined in the market</a:t>
            </a:r>
            <a:endParaRPr lang="en-US" sz="1350" dirty="0"/>
          </a:p>
        </p:txBody>
      </p:sp>
      <p:sp>
        <p:nvSpPr>
          <p:cNvPr id="20" name="implication banner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868680" y="5120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Implication for ADIB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54681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regulator now expects evidence of governance, peers are scaling, and no Islamic bank has defined Sharia-aligned AI governance. ADIB can set that standard.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now: the cost of doing AI one pilot at a time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Risks if we continue as-is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ADIB can move now</a:t>
            </a:r>
            <a:endParaRPr lang="en-US" sz="1700" dirty="0"/>
          </a:p>
        </p:txBody>
      </p:sp>
      <p:sp>
        <p:nvSpPr>
          <p:cNvPr id="7" name="why card"/>
          <p:cNvSpPr/>
          <p:nvPr/>
        </p:nvSpPr>
        <p:spPr>
          <a:xfrm>
            <a:off x="548640" y="1874520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Pilots built in silos circle"/>
          <p:cNvSpPr/>
          <p:nvPr/>
        </p:nvSpPr>
        <p:spPr>
          <a:xfrm>
            <a:off x="731520" y="2039112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Pilots built in sil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189988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Pilots built in silos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3225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team rebuilds security, logging and integration; spend is duplicated.</a:t>
            </a:r>
            <a:endParaRPr lang="en-US" sz="1200" dirty="0"/>
          </a:p>
        </p:txBody>
      </p:sp>
      <p:sp>
        <p:nvSpPr>
          <p:cNvPr id="12" name="why card"/>
          <p:cNvSpPr/>
          <p:nvPr/>
        </p:nvSpPr>
        <p:spPr>
          <a:xfrm>
            <a:off x="548640" y="2953512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dow AI circle"/>
          <p:cNvSpPr/>
          <p:nvPr/>
        </p:nvSpPr>
        <p:spPr>
          <a:xfrm>
            <a:off x="731520" y="3118104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Shadow A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268980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08760" y="30723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Shadow AI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3401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Staff use public tools with no control over what bank data leaves.</a:t>
            </a:r>
            <a:endParaRPr lang="en-US" sz="1200" dirty="0"/>
          </a:p>
        </p:txBody>
      </p:sp>
      <p:sp>
        <p:nvSpPr>
          <p:cNvPr id="17" name="why card"/>
          <p:cNvSpPr/>
          <p:nvPr/>
        </p:nvSpPr>
        <p:spPr>
          <a:xfrm>
            <a:off x="548640" y="4032504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No common inventory or evaluation circle"/>
          <p:cNvSpPr/>
          <p:nvPr/>
        </p:nvSpPr>
        <p:spPr>
          <a:xfrm>
            <a:off x="731520" y="4197096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No common inventory or evalu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347972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4151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No common inventory or evaluation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 cannot say which models run where, or how well they perform.</a:t>
            </a:r>
            <a:endParaRPr lang="en-US" sz="1200" dirty="0"/>
          </a:p>
        </p:txBody>
      </p:sp>
      <p:sp>
        <p:nvSpPr>
          <p:cNvPr id="22" name="why card"/>
          <p:cNvSpPr/>
          <p:nvPr/>
        </p:nvSpPr>
        <p:spPr>
          <a:xfrm>
            <a:off x="548640" y="5111496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Rising regulatory expectations circle"/>
          <p:cNvSpPr/>
          <p:nvPr/>
        </p:nvSpPr>
        <p:spPr>
          <a:xfrm>
            <a:off x="731520" y="527608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Rising regulatory expectatio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42696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5230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Rising regulatory expectations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508760" y="5559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CBUAE, UAE PDPL and model-risk scrutiny now apply to AI.</a:t>
            </a:r>
            <a:endParaRPr lang="en-US" sz="1200" dirty="0"/>
          </a:p>
        </p:txBody>
      </p:sp>
      <p:sp>
        <p:nvSpPr>
          <p:cNvPr id="27" name="why card"/>
          <p:cNvSpPr/>
          <p:nvPr/>
        </p:nvSpPr>
        <p:spPr>
          <a:xfrm>
            <a:off x="6309360" y="1874520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Chief AI Office established circle"/>
          <p:cNvSpPr/>
          <p:nvPr/>
        </p:nvSpPr>
        <p:spPr>
          <a:xfrm>
            <a:off x="6492240" y="203911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Chief AI Office establish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189988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6948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Chief AI Office established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7269480" y="23225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Clear executive ownership and mandate for AI.</a:t>
            </a:r>
            <a:endParaRPr lang="en-US" sz="1200" dirty="0"/>
          </a:p>
        </p:txBody>
      </p:sp>
      <p:sp>
        <p:nvSpPr>
          <p:cNvPr id="32" name="why card"/>
          <p:cNvSpPr/>
          <p:nvPr/>
        </p:nvSpPr>
        <p:spPr>
          <a:xfrm>
            <a:off x="6309360" y="2953512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Agentic AI is production-ready circle"/>
          <p:cNvSpPr/>
          <p:nvPr/>
        </p:nvSpPr>
        <p:spPr>
          <a:xfrm>
            <a:off x="6492240" y="3118104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Agentic AI is production-read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3268980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269480" y="30723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Agentic AI is production-ready</a:t>
            </a:r>
            <a:endParaRPr lang="en-US" sz="1450" dirty="0"/>
          </a:p>
        </p:txBody>
      </p:sp>
      <p:sp>
        <p:nvSpPr>
          <p:cNvPr id="36" name="Text 28"/>
          <p:cNvSpPr txBox="1"/>
          <p:nvPr/>
        </p:nvSpPr>
        <p:spPr>
          <a:xfrm>
            <a:off x="7269480" y="3401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Agents can now act on systems, not just answer questions.</a:t>
            </a:r>
            <a:endParaRPr lang="en-US" sz="1200" dirty="0"/>
          </a:p>
        </p:txBody>
      </p:sp>
      <p:sp>
        <p:nvSpPr>
          <p:cNvPr id="37" name="why card"/>
          <p:cNvSpPr/>
          <p:nvPr/>
        </p:nvSpPr>
        <p:spPr>
          <a:xfrm>
            <a:off x="6309360" y="4032504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Integration estate is AI-ready circle"/>
          <p:cNvSpPr/>
          <p:nvPr/>
        </p:nvSpPr>
        <p:spPr>
          <a:xfrm>
            <a:off x="6492240" y="4197096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ntegration estate is AI-ready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4347972"/>
            <a:ext cx="301752" cy="30175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269480" y="4151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Integration estate is AI-ready</a:t>
            </a:r>
            <a:endParaRPr lang="en-US" sz="1450" dirty="0"/>
          </a:p>
        </p:txBody>
      </p:sp>
      <p:sp>
        <p:nvSpPr>
          <p:cNvPr id="41" name="Text 32"/>
          <p:cNvSpPr txBox="1"/>
          <p:nvPr/>
        </p:nvSpPr>
        <p:spPr>
          <a:xfrm>
            <a:off x="726948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APIC, ESB and OIC services can be exposed as governed AI tools.</a:t>
            </a:r>
            <a:endParaRPr lang="en-US" sz="1200" dirty="0"/>
          </a:p>
        </p:txBody>
      </p:sp>
      <p:sp>
        <p:nvSpPr>
          <p:cNvPr id="42" name="why card"/>
          <p:cNvSpPr/>
          <p:nvPr/>
        </p:nvSpPr>
        <p:spPr>
          <a:xfrm>
            <a:off x="6309360" y="5111496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Proven internal capability circle"/>
          <p:cNvSpPr/>
          <p:nvPr/>
        </p:nvSpPr>
        <p:spPr>
          <a:xfrm>
            <a:off x="6492240" y="52760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Proven internal capability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426964"/>
            <a:ext cx="301752" cy="30175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269480" y="5230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Proven internal capability</a:t>
            </a:r>
            <a:endParaRPr lang="en-US" sz="1450" dirty="0"/>
          </a:p>
        </p:txBody>
      </p:sp>
      <p:sp>
        <p:nvSpPr>
          <p:cNvPr id="46" name="Text 36"/>
          <p:cNvSpPr txBox="1"/>
          <p:nvPr/>
        </p:nvSpPr>
        <p:spPr>
          <a:xfrm>
            <a:off x="7269480" y="55595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Agentathon results and working POCs show we can build it 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Design principles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principle card"/>
          <p:cNvSpPr/>
          <p:nvPr/>
        </p:nvSpPr>
        <p:spPr>
          <a:xfrm>
            <a:off x="548640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Governed by design circle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Governed by desig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Governed by design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98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Controls are built into the platform, not added after a pilot succeeds.</a:t>
            </a:r>
            <a:endParaRPr lang="en-US" sz="1250" dirty="0"/>
          </a:p>
        </p:txBody>
      </p:sp>
      <p:sp>
        <p:nvSpPr>
          <p:cNvPr id="10" name="principle card"/>
          <p:cNvSpPr/>
          <p:nvPr/>
        </p:nvSpPr>
        <p:spPr>
          <a:xfrm>
            <a:off x="4297680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ntegration-first circle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ntegration-fir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630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Integration-first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898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AI uses the bank’s existing APIs and services; we expose, we don’t rebuild.</a:t>
            </a:r>
            <a:endParaRPr lang="en-US" sz="1250" dirty="0"/>
          </a:p>
        </p:txBody>
      </p:sp>
      <p:sp>
        <p:nvSpPr>
          <p:cNvPr id="15" name="principle card"/>
          <p:cNvSpPr/>
          <p:nvPr/>
        </p:nvSpPr>
        <p:spPr>
          <a:xfrm>
            <a:off x="8046720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UAE data residency circle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AE data residenc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630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UAE data residency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898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Customer data stays in-country; restricted data uses on-prem or private models.</a:t>
            </a:r>
            <a:endParaRPr lang="en-US" sz="1250" dirty="0"/>
          </a:p>
        </p:txBody>
      </p:sp>
      <p:sp>
        <p:nvSpPr>
          <p:cNvPr id="20" name="principle card"/>
          <p:cNvSpPr/>
          <p:nvPr/>
        </p:nvSpPr>
        <p:spPr>
          <a:xfrm>
            <a:off x="548640" y="384048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Humans decide what matters 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Humans decide what matt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28625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Humans decide what matters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321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Any adverse or customer-impacting action needs human approval.</a:t>
            </a:r>
            <a:endParaRPr lang="en-US" sz="1250" dirty="0"/>
          </a:p>
        </p:txBody>
      </p:sp>
      <p:sp>
        <p:nvSpPr>
          <p:cNvPr id="25" name="principle card"/>
          <p:cNvSpPr/>
          <p:nvPr/>
        </p:nvSpPr>
        <p:spPr>
          <a:xfrm>
            <a:off x="4297680" y="384048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Build once, reuse many circle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Build once, reuse man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286250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7200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once, reuse many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321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Shared gateway, tools, evals and ledger cut cost and time-to-market.</a:t>
            </a:r>
            <a:endParaRPr lang="en-US" sz="1250" dirty="0"/>
          </a:p>
        </p:txBody>
      </p:sp>
      <p:sp>
        <p:nvSpPr>
          <p:cNvPr id="30" name="principle card"/>
          <p:cNvSpPr/>
          <p:nvPr/>
        </p:nvSpPr>
        <p:spPr>
          <a:xfrm>
            <a:off x="8046720" y="384048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ria-aligned and measurable circle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Sharia-aligned and measurab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286250"/>
            <a:ext cx="342900" cy="3429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2104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Sharia-aligned and measurable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321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Sharia review where relevant, and every use case has a value baseline.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Target reference architecture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layer label"/>
          <p:cNvSpPr/>
          <p:nvPr/>
        </p:nvSpPr>
        <p:spPr>
          <a:xfrm>
            <a:off x="548640" y="1325880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Channels</a:t>
            </a:r>
            <a:endParaRPr lang="en-US" sz="1350" dirty="0"/>
          </a:p>
        </p:txBody>
      </p:sp>
      <p:sp>
        <p:nvSpPr>
          <p:cNvPr id="7" name="layer body"/>
          <p:cNvSpPr/>
          <p:nvPr/>
        </p:nvSpPr>
        <p:spPr>
          <a:xfrm>
            <a:off x="2926080" y="1325880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32588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Mobile &amp; online banking  ·  Teams / Copilot  ·  Branch &amp; ops portals  ·  Contact centre</a:t>
            </a:r>
            <a:endParaRPr lang="en-US" sz="1250" dirty="0"/>
          </a:p>
        </p:txBody>
      </p:sp>
      <p:sp>
        <p:nvSpPr>
          <p:cNvPr id="9" name="layer label"/>
          <p:cNvSpPr/>
          <p:nvPr/>
        </p:nvSpPr>
        <p:spPr>
          <a:xfrm>
            <a:off x="548640" y="2139696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3969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AI Gateway</a:t>
            </a:r>
            <a:endParaRPr lang="en-US" sz="1350" dirty="0"/>
          </a:p>
        </p:txBody>
      </p:sp>
      <p:sp>
        <p:nvSpPr>
          <p:cNvPr id="11" name="layer body"/>
          <p:cNvSpPr/>
          <p:nvPr/>
        </p:nvSpPr>
        <p:spPr>
          <a:xfrm>
            <a:off x="2926080" y="2139696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213969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Entra ID auth  ·  token quotas  ·  PII masking  ·  content safety  ·  full request logging</a:t>
            </a:r>
            <a:endParaRPr lang="en-US" sz="1250" dirty="0"/>
          </a:p>
        </p:txBody>
      </p:sp>
      <p:sp>
        <p:nvSpPr>
          <p:cNvPr id="13" name="layer label"/>
          <p:cNvSpPr/>
          <p:nvPr/>
        </p:nvSpPr>
        <p:spPr>
          <a:xfrm>
            <a:off x="548640" y="2953512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5351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Agents &amp; orchestration</a:t>
            </a:r>
            <a:endParaRPr lang="en-US" sz="1350" dirty="0"/>
          </a:p>
        </p:txBody>
      </p:sp>
      <p:sp>
        <p:nvSpPr>
          <p:cNvPr id="15" name="layer body"/>
          <p:cNvSpPr/>
          <p:nvPr/>
        </p:nvSpPr>
        <p:spPr>
          <a:xfrm>
            <a:off x="2926080" y="2953512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2953512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Copilot Studio (low-code)  ·  Azure AI Foundry agents  ·  LangGraph (pro-code)</a:t>
            </a:r>
            <a:endParaRPr lang="en-US" sz="1250" dirty="0"/>
          </a:p>
        </p:txBody>
      </p:sp>
      <p:sp>
        <p:nvSpPr>
          <p:cNvPr id="17" name="layer label"/>
          <p:cNvSpPr/>
          <p:nvPr/>
        </p:nvSpPr>
        <p:spPr>
          <a:xfrm>
            <a:off x="548640" y="3767328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673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Models</a:t>
            </a:r>
            <a:endParaRPr lang="en-US" sz="1350" dirty="0"/>
          </a:p>
        </p:txBody>
      </p:sp>
      <p:sp>
        <p:nvSpPr>
          <p:cNvPr id="19" name="layer body"/>
          <p:cNvSpPr/>
          <p:nvPr/>
        </p:nvSpPr>
        <p:spPr>
          <a:xfrm>
            <a:off x="2926080" y="3767328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3767328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Azure OpenAI, UAE-hosted where available  ·  private / open-weight models for restricted data  ·  routing</a:t>
            </a:r>
            <a:endParaRPr lang="en-US" sz="1250" dirty="0"/>
          </a:p>
        </p:txBody>
      </p:sp>
      <p:sp>
        <p:nvSpPr>
          <p:cNvPr id="21" name="layer label"/>
          <p:cNvSpPr/>
          <p:nvPr/>
        </p:nvSpPr>
        <p:spPr>
          <a:xfrm>
            <a:off x="548640" y="4581144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581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Knowledge &amp; data</a:t>
            </a:r>
            <a:endParaRPr lang="en-US" sz="1350" dirty="0"/>
          </a:p>
        </p:txBody>
      </p:sp>
      <p:sp>
        <p:nvSpPr>
          <p:cNvPr id="23" name="layer body"/>
          <p:cNvSpPr/>
          <p:nvPr/>
        </p:nvSpPr>
        <p:spPr>
          <a:xfrm>
            <a:off x="2926080" y="4581144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8960" y="4581144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Vector search (RAG)  ·  Purview classification &amp; lineage  ·  governed data products</a:t>
            </a:r>
            <a:endParaRPr lang="en-US" sz="1250" dirty="0"/>
          </a:p>
        </p:txBody>
      </p:sp>
      <p:sp>
        <p:nvSpPr>
          <p:cNvPr id="25" name="layer label"/>
          <p:cNvSpPr/>
          <p:nvPr/>
        </p:nvSpPr>
        <p:spPr>
          <a:xfrm>
            <a:off x="548640" y="5394960"/>
            <a:ext cx="2286000" cy="694944"/>
          </a:xfrm>
          <a:prstGeom prst="roundRect">
            <a:avLst>
              <a:gd name="adj" fmla="val 789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39496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Tools &amp; integration</a:t>
            </a:r>
            <a:endParaRPr lang="en-US" sz="1350" dirty="0"/>
          </a:p>
        </p:txBody>
      </p:sp>
      <p:sp>
        <p:nvSpPr>
          <p:cNvPr id="27" name="layer body"/>
          <p:cNvSpPr/>
          <p:nvPr/>
        </p:nvSpPr>
        <p:spPr>
          <a:xfrm>
            <a:off x="2926080" y="5394960"/>
            <a:ext cx="6355080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08960" y="539496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MCP servers over IBM APIC / ESB  ·  Oracle OIC  ·  core banking  ·  FIRCO  ·  CRM</a:t>
            </a:r>
            <a:endParaRPr lang="en-US" sz="1250" dirty="0"/>
          </a:p>
        </p:txBody>
      </p:sp>
      <p:sp>
        <p:nvSpPr>
          <p:cNvPr id="29" name="governance column"/>
          <p:cNvSpPr/>
          <p:nvPr/>
        </p:nvSpPr>
        <p:spPr>
          <a:xfrm>
            <a:off x="9464040" y="1325880"/>
            <a:ext cx="2148840" cy="4764024"/>
          </a:xfrm>
          <a:prstGeom prst="roundRect">
            <a:avLst>
              <a:gd name="adj" fmla="val 340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0" y="1463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Cross-cutting trust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1965960"/>
            <a:ext cx="1920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AI &amp; model inventory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Evaluation &amp; red-teaming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Human-in-the-loop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Hash-chained audit ledger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Sharia review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LLMOps &amp; monitoring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FinOps: cost per use case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Integration-first: expose the bank safely, don’t rebuild it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agent box"/>
          <p:cNvSpPr/>
          <p:nvPr/>
        </p:nvSpPr>
        <p:spPr>
          <a:xfrm>
            <a:off x="54864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agents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Investigation, policy, operations</a:t>
            </a:r>
            <a:endParaRPr lang="en-US" sz="1150" dirty="0"/>
          </a:p>
        </p:txBody>
      </p:sp>
      <p:sp>
        <p:nvSpPr>
          <p:cNvPr id="8" name="gateway box"/>
          <p:cNvSpPr/>
          <p:nvPr/>
        </p:nvSpPr>
        <p:spPr>
          <a:xfrm>
            <a:off x="301752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Gateway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Identity, quotas, masking, logging</a:t>
            </a:r>
            <a:endParaRPr lang="en-US" sz="1150" dirty="0"/>
          </a:p>
        </p:txBody>
      </p:sp>
      <p:sp>
        <p:nvSpPr>
          <p:cNvPr id="11" name="arrow"/>
          <p:cNvSpPr/>
          <p:nvPr/>
        </p:nvSpPr>
        <p:spPr>
          <a:xfrm>
            <a:off x="2560320" y="33832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mcp box"/>
          <p:cNvSpPr/>
          <p:nvPr/>
        </p:nvSpPr>
        <p:spPr>
          <a:xfrm>
            <a:off x="5577840" y="1371600"/>
            <a:ext cx="2194560" cy="621792"/>
          </a:xfrm>
          <a:prstGeom prst="roundRect">
            <a:avLst>
              <a:gd name="adj" fmla="val 88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3716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Screening MCP</a:t>
            </a:r>
            <a:endParaRPr lang="en-US" sz="1300" dirty="0"/>
          </a:p>
        </p:txBody>
      </p:sp>
      <p:sp>
        <p:nvSpPr>
          <p:cNvPr id="14" name="system box"/>
          <p:cNvSpPr/>
          <p:nvPr/>
        </p:nvSpPr>
        <p:spPr>
          <a:xfrm>
            <a:off x="8321040" y="1371600"/>
            <a:ext cx="22860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3716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FIRCO / sanctions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029200" y="3383280"/>
            <a:ext cx="548640" cy="-170078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7772400" y="1682496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mcp box"/>
          <p:cNvSpPr/>
          <p:nvPr/>
        </p:nvSpPr>
        <p:spPr>
          <a:xfrm>
            <a:off x="5577840" y="2176272"/>
            <a:ext cx="2194560" cy="621792"/>
          </a:xfrm>
          <a:prstGeom prst="roundRect">
            <a:avLst>
              <a:gd name="adj" fmla="val 88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21762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Customer MCP</a:t>
            </a:r>
            <a:endParaRPr lang="en-US" sz="1300" dirty="0"/>
          </a:p>
        </p:txBody>
      </p:sp>
      <p:sp>
        <p:nvSpPr>
          <p:cNvPr id="20" name="system box"/>
          <p:cNvSpPr/>
          <p:nvPr/>
        </p:nvSpPr>
        <p:spPr>
          <a:xfrm>
            <a:off x="8321040" y="2176272"/>
            <a:ext cx="22860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2176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Core banking &amp; CRM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5029200" y="3383280"/>
            <a:ext cx="548640" cy="-89611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7772400" y="2487168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mcp box"/>
          <p:cNvSpPr/>
          <p:nvPr/>
        </p:nvSpPr>
        <p:spPr>
          <a:xfrm>
            <a:off x="5577840" y="2980944"/>
            <a:ext cx="2194560" cy="621792"/>
          </a:xfrm>
          <a:prstGeom prst="roundRect">
            <a:avLst>
              <a:gd name="adj" fmla="val 88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29809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Payments MCP</a:t>
            </a:r>
            <a:endParaRPr lang="en-US" sz="1300" dirty="0"/>
          </a:p>
        </p:txBody>
      </p:sp>
      <p:sp>
        <p:nvSpPr>
          <p:cNvPr id="26" name="system box"/>
          <p:cNvSpPr/>
          <p:nvPr/>
        </p:nvSpPr>
        <p:spPr>
          <a:xfrm>
            <a:off x="8321040" y="2980944"/>
            <a:ext cx="22860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29809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ISO 20022 / SWIFT</a:t>
            </a:r>
            <a:endParaRPr lang="en-US" sz="1300" dirty="0"/>
          </a:p>
        </p:txBody>
      </p:sp>
      <p:sp>
        <p:nvSpPr>
          <p:cNvPr id="28" name="arrow"/>
          <p:cNvSpPr/>
          <p:nvPr/>
        </p:nvSpPr>
        <p:spPr>
          <a:xfrm>
            <a:off x="5029200" y="3383280"/>
            <a:ext cx="548640" cy="-914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7772400" y="329184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mcp box"/>
          <p:cNvSpPr/>
          <p:nvPr/>
        </p:nvSpPr>
        <p:spPr>
          <a:xfrm>
            <a:off x="5577840" y="3785616"/>
            <a:ext cx="2194560" cy="621792"/>
          </a:xfrm>
          <a:prstGeom prst="roundRect">
            <a:avLst>
              <a:gd name="adj" fmla="val 88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37856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Case mgmt MCP</a:t>
            </a:r>
            <a:endParaRPr lang="en-US" sz="1300" dirty="0"/>
          </a:p>
        </p:txBody>
      </p:sp>
      <p:sp>
        <p:nvSpPr>
          <p:cNvPr id="32" name="system box"/>
          <p:cNvSpPr/>
          <p:nvPr/>
        </p:nvSpPr>
        <p:spPr>
          <a:xfrm>
            <a:off x="8321040" y="3785616"/>
            <a:ext cx="22860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37856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Case management</a:t>
            </a:r>
            <a:endParaRPr lang="en-US" sz="1300" dirty="0"/>
          </a:p>
        </p:txBody>
      </p:sp>
      <p:sp>
        <p:nvSpPr>
          <p:cNvPr id="34" name="arrow"/>
          <p:cNvSpPr/>
          <p:nvPr/>
        </p:nvSpPr>
        <p:spPr>
          <a:xfrm>
            <a:off x="5029200" y="3383280"/>
            <a:ext cx="548640" cy="71323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7772400" y="4096512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mcp box"/>
          <p:cNvSpPr/>
          <p:nvPr/>
        </p:nvSpPr>
        <p:spPr>
          <a:xfrm>
            <a:off x="5577840" y="4590288"/>
            <a:ext cx="2194560" cy="621792"/>
          </a:xfrm>
          <a:prstGeom prst="roundRect">
            <a:avLst>
              <a:gd name="adj" fmla="val 882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77840" y="45902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Documents MCP</a:t>
            </a:r>
            <a:endParaRPr lang="en-US" sz="1300" dirty="0"/>
          </a:p>
        </p:txBody>
      </p:sp>
      <p:sp>
        <p:nvSpPr>
          <p:cNvPr id="38" name="system box"/>
          <p:cNvSpPr/>
          <p:nvPr/>
        </p:nvSpPr>
        <p:spPr>
          <a:xfrm>
            <a:off x="8321040" y="4590288"/>
            <a:ext cx="22860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1040" y="459028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DMS &amp; trade docs</a:t>
            </a:r>
            <a:endParaRPr lang="en-US" sz="1300" dirty="0"/>
          </a:p>
        </p:txBody>
      </p:sp>
      <p:sp>
        <p:nvSpPr>
          <p:cNvPr id="40" name="arrow"/>
          <p:cNvSpPr/>
          <p:nvPr/>
        </p:nvSpPr>
        <p:spPr>
          <a:xfrm>
            <a:off x="5029200" y="3383280"/>
            <a:ext cx="548640" cy="151790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1" name="arrow"/>
          <p:cNvSpPr/>
          <p:nvPr/>
        </p:nvSpPr>
        <p:spPr>
          <a:xfrm>
            <a:off x="7772400" y="4901184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32104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via IBM APIC / ESB  ·  Oracle OIC</a:t>
            </a:r>
            <a:endParaRPr lang="en-US" sz="1100" dirty="0"/>
          </a:p>
        </p:txBody>
      </p:sp>
      <p:sp>
        <p:nvSpPr>
          <p:cNvPr id="43" name="proof card"/>
          <p:cNvSpPr/>
          <p:nvPr/>
        </p:nvSpPr>
        <p:spPr>
          <a:xfrm>
            <a:off x="548640" y="4572000"/>
            <a:ext cx="44805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77240" y="4709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Already proven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0749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working FIRCO MCP server shows our screening platform can be called by an agent with least-privilege, fully logged access.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architecture decisions (ADRs)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474720"/>
                <a:gridCol w="342900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Rationale</a:t>
                      </a:r>
                      <a:endParaRPr lang="en-US" sz="13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Trade-off accepted</a:t>
                      </a:r>
                      <a:endParaRPr lang="en-US" sz="1300" dirty="0"/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ADR-001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All model traffic goes through one AI gateway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Single control point for identity, quotas, masking, logging and cost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Small latency overhead; gateway must be highly available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ADR-002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RAG, not fine-tuning, for policy and procedure knowledge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Content changes often; answers need citations for audit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Answer quality depends on document quality and retrieval tuning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ADR-003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MCP is the standard agent-to-system interface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Reuses APIC / ESB / OIC estate; least-privilege per tool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Needs an MCP catalogue and ownership model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ADR-004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Human approval for any adverse or customer-impacting action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Accountability stays with people, as regulators expect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Less automation in Tier 3; offset by faster investigator workflow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ADR-005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Low-code for Tier 1, pro-code for Tier 2–3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Speed where risk is low, full control and testing where it is high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Two toolchains to support and skill up</a:t>
                      </a:r>
                      <a:endParaRPr lang="en-US" sz="115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Six-gate AI governance, built on our existing DRB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gate 1"/>
          <p:cNvSpPr/>
          <p:nvPr/>
        </p:nvSpPr>
        <p:spPr>
          <a:xfrm>
            <a:off x="105156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arrow"/>
          <p:cNvSpPr/>
          <p:nvPr/>
        </p:nvSpPr>
        <p:spPr>
          <a:xfrm>
            <a:off x="1874520" y="1874520"/>
            <a:ext cx="9418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gate card"/>
          <p:cNvSpPr/>
          <p:nvPr/>
        </p:nvSpPr>
        <p:spPr>
          <a:xfrm>
            <a:off x="548640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Intake &amp; value case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Problem, owner, KPI baseline</a:t>
            </a:r>
            <a:endParaRPr lang="en-US" sz="1150" dirty="0"/>
          </a:p>
        </p:txBody>
      </p:sp>
      <p:sp>
        <p:nvSpPr>
          <p:cNvPr id="11" name="gate 2"/>
          <p:cNvSpPr/>
          <p:nvPr/>
        </p:nvSpPr>
        <p:spPr>
          <a:xfrm>
            <a:off x="2907792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7792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arrow"/>
          <p:cNvSpPr/>
          <p:nvPr/>
        </p:nvSpPr>
        <p:spPr>
          <a:xfrm>
            <a:off x="3730752" y="1874520"/>
            <a:ext cx="9418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gate card"/>
          <p:cNvSpPr/>
          <p:nvPr/>
        </p:nvSpPr>
        <p:spPr>
          <a:xfrm>
            <a:off x="2404872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514600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Risk tiering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Tier 1, 2 or 3 sets the controls</a:t>
            </a:r>
            <a:endParaRPr lang="en-US" sz="1150" dirty="0"/>
          </a:p>
        </p:txBody>
      </p:sp>
      <p:sp>
        <p:nvSpPr>
          <p:cNvPr id="17" name="gate 3"/>
          <p:cNvSpPr/>
          <p:nvPr/>
        </p:nvSpPr>
        <p:spPr>
          <a:xfrm>
            <a:off x="4764024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64024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arrow"/>
          <p:cNvSpPr/>
          <p:nvPr/>
        </p:nvSpPr>
        <p:spPr>
          <a:xfrm>
            <a:off x="5586984" y="1874520"/>
            <a:ext cx="9418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gate card"/>
          <p:cNvSpPr/>
          <p:nvPr/>
        </p:nvSpPr>
        <p:spPr>
          <a:xfrm>
            <a:off x="4261104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70832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Data &amp; privacy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370832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Classification, PDPL, residency</a:t>
            </a:r>
            <a:endParaRPr lang="en-US" sz="1150" dirty="0"/>
          </a:p>
        </p:txBody>
      </p:sp>
      <p:sp>
        <p:nvSpPr>
          <p:cNvPr id="23" name="gate 4"/>
          <p:cNvSpPr/>
          <p:nvPr/>
        </p:nvSpPr>
        <p:spPr>
          <a:xfrm>
            <a:off x="6620256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0256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arrow"/>
          <p:cNvSpPr/>
          <p:nvPr/>
        </p:nvSpPr>
        <p:spPr>
          <a:xfrm>
            <a:off x="7443216" y="1874520"/>
            <a:ext cx="9418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gate card"/>
          <p:cNvSpPr/>
          <p:nvPr/>
        </p:nvSpPr>
        <p:spPr>
          <a:xfrm>
            <a:off x="6117336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27064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Sharia &amp; ethics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27064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Fairness, Sharia review where relevant</a:t>
            </a:r>
            <a:endParaRPr lang="en-US" sz="1150" dirty="0"/>
          </a:p>
        </p:txBody>
      </p:sp>
      <p:sp>
        <p:nvSpPr>
          <p:cNvPr id="29" name="gate 5"/>
          <p:cNvSpPr/>
          <p:nvPr/>
        </p:nvSpPr>
        <p:spPr>
          <a:xfrm>
            <a:off x="8476488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7648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arrow"/>
          <p:cNvSpPr/>
          <p:nvPr/>
        </p:nvSpPr>
        <p:spPr>
          <a:xfrm>
            <a:off x="9299448" y="1874520"/>
            <a:ext cx="9418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gate card"/>
          <p:cNvSpPr/>
          <p:nvPr/>
        </p:nvSpPr>
        <p:spPr>
          <a:xfrm>
            <a:off x="7973568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83296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Evaluation &amp; red-team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Accuracy, groundedness, jailbreak tests</a:t>
            </a:r>
            <a:endParaRPr lang="en-US" sz="1150" dirty="0"/>
          </a:p>
        </p:txBody>
      </p:sp>
      <p:sp>
        <p:nvSpPr>
          <p:cNvPr id="35" name="gate 6"/>
          <p:cNvSpPr/>
          <p:nvPr/>
        </p:nvSpPr>
        <p:spPr>
          <a:xfrm>
            <a:off x="1033272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327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gate card"/>
          <p:cNvSpPr/>
          <p:nvPr/>
        </p:nvSpPr>
        <p:spPr>
          <a:xfrm>
            <a:off x="9829800" y="2514600"/>
            <a:ext cx="1737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939528" y="263347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Approve &amp; monitor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939528" y="3200400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Go-live, drift, incidents, re-review</a:t>
            </a:r>
            <a:endParaRPr lang="en-US" sz="1150" dirty="0"/>
          </a:p>
        </p:txBody>
      </p:sp>
      <p:sp>
        <p:nvSpPr>
          <p:cNvPr id="40" name="ledger banner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ledger icon circle"/>
          <p:cNvSpPr/>
          <p:nvPr/>
        </p:nvSpPr>
        <p:spPr>
          <a:xfrm>
            <a:off x="868680" y="4800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2" name="ledg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029200"/>
            <a:ext cx="457200" cy="45720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2057400" y="4709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Every agent action is written to a hash-chained, tamper-evident audit ledger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2057400" y="5212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Who asked, which model, which data and tools were used, what the agent proposed, and who approved it. Auditors and regulators can replay any decision.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Risk tiering: controls scale with impact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9319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Tier</a:t>
                      </a:r>
                      <a:endParaRPr lang="en-US" sz="1350" dirty="0"/>
                    </a:p>
                  </a:txBody>
                  <a:tcPr marL="109728" marR="109728" marT="109728" marB="109728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Typical use cases</a:t>
                      </a:r>
                      <a:endParaRPr lang="en-US" sz="1350" dirty="0"/>
                    </a:p>
                  </a:txBody>
                  <a:tcPr marL="109728" marR="109728" marT="109728" marB="109728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Required controls</a:t>
                      </a:r>
                      <a:endParaRPr lang="en-US" sz="1350" dirty="0"/>
                    </a:p>
                  </a:txBody>
                  <a:tcPr marL="109728" marR="109728" marT="109728" marB="109728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Approved by</a:t>
                      </a:r>
                      <a:endParaRPr lang="en-US" sz="1350" dirty="0"/>
                    </a:p>
                  </a:txBody>
                  <a:tcPr marL="109728" marR="109728" marT="109728" marB="109728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Tier 1  Low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Internal productivity: drafting, summarising internal documents, meeting notes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Gateway, logging, approved models, baseline evals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platform team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Tier 2  Medium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Employee decision support: policy Q&amp;A, investigation assistant, alert triage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Tier 1 + groundedness evals, mandatory citations, human makes the decision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Review Board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Tier 3  High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Customer-impacting or regulatory outcomes: credit, financial crime decisions, customer advice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Tier 2 + mandatory human approval, explainability, independent model validation, Sharia review, continuous monitoring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 Review Board + Risk + Compliance + Sharia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 use case can move up a tier, never down, if its scope expands to customers or decisions.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Aligned with UAE regulation and global standards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reg card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UAE PDPL circle"/>
          <p:cNvSpPr/>
          <p:nvPr/>
        </p:nvSpPr>
        <p:spPr>
          <a:xfrm>
            <a:off x="777240" y="1719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UAE PDP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572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UAE PDPL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965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Federal Decree-Law 45/2021: lawful basis, data minimisation, cross-border transfer rules.</a:t>
            </a:r>
            <a:endParaRPr lang="en-US" sz="1250" dirty="0"/>
          </a:p>
        </p:txBody>
      </p:sp>
      <p:sp>
        <p:nvSpPr>
          <p:cNvPr id="10" name="reg card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BUAE AI Guidance Note (Feb 2026) circle"/>
          <p:cNvSpPr/>
          <p:nvPr/>
        </p:nvSpPr>
        <p:spPr>
          <a:xfrm>
            <a:off x="6400800" y="1719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BUAE AI Guidance Note (Feb 2026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019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572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CBUAE AI Guidance Note (Feb 2026)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1965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Board accountability, human oversight, customer right to human review; Model Management Standards.</a:t>
            </a:r>
            <a:endParaRPr lang="en-US" sz="1250" dirty="0"/>
          </a:p>
        </p:txBody>
      </p:sp>
      <p:sp>
        <p:nvSpPr>
          <p:cNvPr id="15" name="reg card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ria governance circle"/>
          <p:cNvSpPr/>
          <p:nvPr/>
        </p:nvSpPr>
        <p:spPr>
          <a:xfrm>
            <a:off x="777240" y="3319272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haria governan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021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172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Sharia governance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35661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Internal Sharia Supervision Committee review of AI content on Islamic products.</a:t>
            </a:r>
            <a:endParaRPr lang="en-US" sz="1250" dirty="0"/>
          </a:p>
        </p:txBody>
      </p:sp>
      <p:sp>
        <p:nvSpPr>
          <p:cNvPr id="20" name="reg card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NIST AI RMF circle"/>
          <p:cNvSpPr/>
          <p:nvPr/>
        </p:nvSpPr>
        <p:spPr>
          <a:xfrm>
            <a:off x="6400800" y="33192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NIST AI RM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021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3172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NIST AI RMF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360920" y="35661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Govern, Map, Measure, Manage: structure for our AI risk process.</a:t>
            </a:r>
            <a:endParaRPr lang="en-US" sz="1250" dirty="0"/>
          </a:p>
        </p:txBody>
      </p:sp>
      <p:sp>
        <p:nvSpPr>
          <p:cNvPr id="25" name="reg card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ISO/IEC 42001 circle"/>
          <p:cNvSpPr/>
          <p:nvPr/>
        </p:nvSpPr>
        <p:spPr>
          <a:xfrm>
            <a:off x="777240" y="49194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SO/IEC 4200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0235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737360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ISO/IEC 42001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737360" y="51663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Certifiable AI management system; a target for year-two maturity.</a:t>
            </a:r>
            <a:endParaRPr lang="en-US" sz="1250" dirty="0"/>
          </a:p>
        </p:txBody>
      </p:sp>
      <p:sp>
        <p:nvSpPr>
          <p:cNvPr id="30" name="reg card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EU AI Act (reference) circle"/>
          <p:cNvSpPr/>
          <p:nvPr/>
        </p:nvSpPr>
        <p:spPr>
          <a:xfrm>
            <a:off x="6400800" y="49194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EU AI Act (reference)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10235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60920" y="4773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EU AI Act (reference)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7360920" y="51663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Risk-tier model used as global best practice for our tiering.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lifecycle for predictive models and GenAI agents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step Intake"/>
          <p:cNvSpPr/>
          <p:nvPr/>
        </p:nvSpPr>
        <p:spPr>
          <a:xfrm>
            <a:off x="548640" y="1463040"/>
            <a:ext cx="16459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Intake</a:t>
            </a:r>
            <a:endParaRPr lang="en-US" sz="1200" dirty="0"/>
          </a:p>
        </p:txBody>
      </p:sp>
      <p:sp>
        <p:nvSpPr>
          <p:cNvPr id="7" name="step Data"/>
          <p:cNvSpPr/>
          <p:nvPr/>
        </p:nvSpPr>
        <p:spPr>
          <a:xfrm>
            <a:off x="2121408" y="1463040"/>
            <a:ext cx="1645920" cy="77724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41448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</p:txBody>
      </p:sp>
      <p:sp>
        <p:nvSpPr>
          <p:cNvPr id="9" name="step Build"/>
          <p:cNvSpPr/>
          <p:nvPr/>
        </p:nvSpPr>
        <p:spPr>
          <a:xfrm>
            <a:off x="3694176" y="1463040"/>
            <a:ext cx="16459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14216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</a:t>
            </a:r>
            <a:endParaRPr lang="en-US" sz="1200" dirty="0"/>
          </a:p>
        </p:txBody>
      </p:sp>
      <p:sp>
        <p:nvSpPr>
          <p:cNvPr id="11" name="step Evaluate"/>
          <p:cNvSpPr/>
          <p:nvPr/>
        </p:nvSpPr>
        <p:spPr>
          <a:xfrm>
            <a:off x="5266944" y="1463040"/>
            <a:ext cx="1645920" cy="77724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86984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Evaluate</a:t>
            </a:r>
            <a:endParaRPr lang="en-US" sz="1200" dirty="0"/>
          </a:p>
        </p:txBody>
      </p:sp>
      <p:sp>
        <p:nvSpPr>
          <p:cNvPr id="13" name="step Deploy"/>
          <p:cNvSpPr/>
          <p:nvPr/>
        </p:nvSpPr>
        <p:spPr>
          <a:xfrm>
            <a:off x="6839712" y="1463040"/>
            <a:ext cx="16459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59752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</a:t>
            </a:r>
            <a:endParaRPr lang="en-US" sz="1200" dirty="0"/>
          </a:p>
        </p:txBody>
      </p:sp>
      <p:sp>
        <p:nvSpPr>
          <p:cNvPr id="15" name="step Monitor"/>
          <p:cNvSpPr/>
          <p:nvPr/>
        </p:nvSpPr>
        <p:spPr>
          <a:xfrm>
            <a:off x="8412480" y="1463040"/>
            <a:ext cx="1645920" cy="77724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</a:t>
            </a:r>
            <a:endParaRPr lang="en-US" sz="1200" dirty="0"/>
          </a:p>
        </p:txBody>
      </p:sp>
      <p:sp>
        <p:nvSpPr>
          <p:cNvPr id="17" name="step Improve"/>
          <p:cNvSpPr/>
          <p:nvPr/>
        </p:nvSpPr>
        <p:spPr>
          <a:xfrm>
            <a:off x="9985248" y="1463040"/>
            <a:ext cx="16459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05288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Improve</a:t>
            </a:r>
            <a:endParaRPr lang="en-US" sz="1200" dirty="0"/>
          </a:p>
        </p:txBody>
      </p:sp>
      <p:sp>
        <p:nvSpPr>
          <p:cNvPr id="19" name="ops card"/>
          <p:cNvSpPr/>
          <p:nvPr/>
        </p:nvSpPr>
        <p:spPr>
          <a:xfrm>
            <a:off x="548640" y="260604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MLOps: predictive models circle"/>
          <p:cNvSpPr/>
          <p:nvPr/>
        </p:nvSpPr>
        <p:spPr>
          <a:xfrm>
            <a:off x="822960" y="2834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MLOps: predictive model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006090"/>
            <a:ext cx="342900" cy="3429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MLOps: predictive models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3749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Feature store and governed training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Model registry with versioning and lineage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Champion / challenger releases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Data and concept drift monitoring, scheduled retraining</a:t>
            </a:r>
            <a:endParaRPr lang="en-US" sz="1350" dirty="0"/>
          </a:p>
        </p:txBody>
      </p:sp>
      <p:sp>
        <p:nvSpPr>
          <p:cNvPr id="24" name="ops card"/>
          <p:cNvSpPr/>
          <p:nvPr/>
        </p:nvSpPr>
        <p:spPr>
          <a:xfrm>
            <a:off x="6172200" y="260604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LLMOps: GenAI and agents circle"/>
          <p:cNvSpPr/>
          <p:nvPr/>
        </p:nvSpPr>
        <p:spPr>
          <a:xfrm>
            <a:off x="6446520" y="2834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LLMOps: GenAI and agen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3006090"/>
            <a:ext cx="342900" cy="3429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31520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LLMOps: GenAI and agents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6492240" y="3749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Prompt and agent configuration under version control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Golden datasets and automated evals in CI/CD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Groundedness, hallucination and jailbreak testing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Cost and latency per transaction tracked live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Use-case portfolio: where to start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quadrant Strategic bets"/>
          <p:cNvSpPr/>
          <p:nvPr/>
        </p:nvSpPr>
        <p:spPr>
          <a:xfrm>
            <a:off x="822960" y="1371600"/>
            <a:ext cx="33375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Strategic bets</a:t>
            </a:r>
            <a:endParaRPr lang="en-US" sz="1200" dirty="0"/>
          </a:p>
        </p:txBody>
      </p:sp>
      <p:sp>
        <p:nvSpPr>
          <p:cNvPr id="7" name="quadrant Lighthouses"/>
          <p:cNvSpPr/>
          <p:nvPr/>
        </p:nvSpPr>
        <p:spPr>
          <a:xfrm>
            <a:off x="4206240" y="1371600"/>
            <a:ext cx="3337560" cy="2286000"/>
          </a:xfrm>
          <a:prstGeom prst="rect">
            <a:avLst/>
          </a:prstGeom>
          <a:solidFill>
            <a:srgbClr val="D9ECE6"/>
          </a:solidFill>
          <a:ln w="12700">
            <a:solidFill>
              <a:srgbClr val="D9E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Lighthouses</a:t>
            </a:r>
            <a:endParaRPr lang="en-US" sz="1200" dirty="0"/>
          </a:p>
        </p:txBody>
      </p:sp>
      <p:sp>
        <p:nvSpPr>
          <p:cNvPr id="9" name="quadrant Park for now"/>
          <p:cNvSpPr/>
          <p:nvPr/>
        </p:nvSpPr>
        <p:spPr>
          <a:xfrm>
            <a:off x="822960" y="3703320"/>
            <a:ext cx="3337560" cy="2286000"/>
          </a:xfrm>
          <a:prstGeom prst="rect">
            <a:avLst/>
          </a:prstGeom>
          <a:solidFill>
            <a:srgbClr val="F4F6F5"/>
          </a:solidFill>
          <a:ln w="12700">
            <a:solidFill>
              <a:srgbClr val="F4F6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Park for now</a:t>
            </a:r>
            <a:endParaRPr lang="en-US" sz="1200" dirty="0"/>
          </a:p>
        </p:txBody>
      </p:sp>
      <p:sp>
        <p:nvSpPr>
          <p:cNvPr id="11" name="quadrant Quick wins"/>
          <p:cNvSpPr/>
          <p:nvPr/>
        </p:nvSpPr>
        <p:spPr>
          <a:xfrm>
            <a:off x="4206240" y="3703320"/>
            <a:ext cx="333756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Quick wins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16200000">
            <a:off x="-548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Business value  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80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Feasibility  →</a:t>
            </a:r>
            <a:endParaRPr lang="en-US" sz="1200" dirty="0"/>
          </a:p>
        </p:txBody>
      </p:sp>
      <p:sp>
        <p:nvSpPr>
          <p:cNvPr id="15" name="dot TBML investigation agent"/>
          <p:cNvSpPr/>
          <p:nvPr/>
        </p:nvSpPr>
        <p:spPr>
          <a:xfrm>
            <a:off x="6035040" y="1965960"/>
            <a:ext cx="256032" cy="25603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TBML investigation agent</a:t>
            </a:r>
            <a:endParaRPr lang="en-US" sz="1100" dirty="0"/>
          </a:p>
        </p:txBody>
      </p:sp>
      <p:sp>
        <p:nvSpPr>
          <p:cNvPr id="17" name="dot Financial crime investigation agent"/>
          <p:cNvSpPr/>
          <p:nvPr/>
        </p:nvSpPr>
        <p:spPr>
          <a:xfrm>
            <a:off x="4937760" y="2606040"/>
            <a:ext cx="256032" cy="25603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947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Financial crime investigation agent</a:t>
            </a:r>
            <a:endParaRPr lang="en-US" sz="1100" dirty="0"/>
          </a:p>
        </p:txBody>
      </p:sp>
      <p:sp>
        <p:nvSpPr>
          <p:cNvPr id="19" name="dot FIRCO alert triage (MCP)"/>
          <p:cNvSpPr/>
          <p:nvPr/>
        </p:nvSpPr>
        <p:spPr>
          <a:xfrm>
            <a:off x="5852160" y="3154680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FIRCO alert triage (MCP)</a:t>
            </a:r>
            <a:endParaRPr lang="en-US" sz="1100" dirty="0"/>
          </a:p>
        </p:txBody>
      </p:sp>
      <p:sp>
        <p:nvSpPr>
          <p:cNvPr id="21" name="dot Idle balance to Ghina savings"/>
          <p:cNvSpPr/>
          <p:nvPr/>
        </p:nvSpPr>
        <p:spPr>
          <a:xfrm>
            <a:off x="2103120" y="2011680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Idle balance to Ghina savings</a:t>
            </a:r>
            <a:endParaRPr lang="en-US" sz="1100" dirty="0"/>
          </a:p>
        </p:txBody>
      </p:sp>
      <p:sp>
        <p:nvSpPr>
          <p:cNvPr id="23" name="dot SOC threat triage agent"/>
          <p:cNvSpPr/>
          <p:nvPr/>
        </p:nvSpPr>
        <p:spPr>
          <a:xfrm>
            <a:off x="2377440" y="3108960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SOC threat triage agent</a:t>
            </a:r>
            <a:endParaRPr lang="en-US" sz="1100" dirty="0"/>
          </a:p>
        </p:txBody>
      </p:sp>
      <p:sp>
        <p:nvSpPr>
          <p:cNvPr id="25" name="dot Banking policy assistant (RAG)"/>
          <p:cNvSpPr/>
          <p:nvPr/>
        </p:nvSpPr>
        <p:spPr>
          <a:xfrm>
            <a:off x="4572000" y="4343400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Banking policy assistant (RAG)</a:t>
            </a:r>
            <a:endParaRPr lang="en-US" sz="1100" dirty="0"/>
          </a:p>
        </p:txBody>
      </p:sp>
      <p:sp>
        <p:nvSpPr>
          <p:cNvPr id="27" name="dot Property management AI agent"/>
          <p:cNvSpPr/>
          <p:nvPr/>
        </p:nvSpPr>
        <p:spPr>
          <a:xfrm>
            <a:off x="5669280" y="5029200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5303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Property management AI agent</a:t>
            </a:r>
            <a:endParaRPr lang="en-US" sz="1100" dirty="0"/>
          </a:p>
        </p:txBody>
      </p:sp>
      <p:sp>
        <p:nvSpPr>
          <p:cNvPr id="29" name="portfolio note"/>
          <p:cNvSpPr/>
          <p:nvPr/>
        </p:nvSpPr>
        <p:spPr>
          <a:xfrm>
            <a:off x="8001000" y="1371600"/>
            <a:ext cx="3611880" cy="466344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753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we choose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0116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Value: cost, risk reduction, revenue, customer experience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Feasibility: data ready, APIs exist, risk tier, skills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Lighthouses prove the platform and governance in a high-stakes domain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Quick wins build adoption and trust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5349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Placement is indicative; each is scored at the intake gate.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This is not theory: already built at ADIB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proof stat"/>
          <p:cNvSpPr/>
          <p:nvPr/>
        </p:nvSpPr>
        <p:spPr>
          <a:xfrm>
            <a:off x="54864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ADIB–Microsoft Agentathon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Financial crime investigation agent</a:t>
            </a:r>
            <a:endParaRPr lang="en-US" sz="1200" dirty="0"/>
          </a:p>
        </p:txBody>
      </p:sp>
      <p:sp>
        <p:nvSpPr>
          <p:cNvPr id="9" name="proof stat"/>
          <p:cNvSpPr/>
          <p:nvPr/>
        </p:nvSpPr>
        <p:spPr>
          <a:xfrm>
            <a:off x="333756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TBML Investigation Agent POC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OFAC, UN and GDELT screening</a:t>
            </a:r>
            <a:endParaRPr lang="en-US" sz="1200" dirty="0"/>
          </a:p>
        </p:txBody>
      </p:sp>
      <p:sp>
        <p:nvSpPr>
          <p:cNvPr id="13" name="proof stat"/>
          <p:cNvSpPr/>
          <p:nvPr/>
        </p:nvSpPr>
        <p:spPr>
          <a:xfrm>
            <a:off x="612648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gates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Agent governance framework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Hash-chained audit ledger on ADIB’s stack</a:t>
            </a:r>
            <a:endParaRPr lang="en-US" sz="1200" dirty="0"/>
          </a:p>
        </p:txBody>
      </p:sp>
      <p:sp>
        <p:nvSpPr>
          <p:cNvPr id="17" name="proof stat"/>
          <p:cNvSpPr/>
          <p:nvPr/>
        </p:nvSpPr>
        <p:spPr>
          <a:xfrm>
            <a:off x="891540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9828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1.5M+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Cost avoidance delivered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Across six integration projects</a:t>
            </a:r>
            <a:endParaRPr lang="en-US" sz="1200" dirty="0"/>
          </a:p>
        </p:txBody>
      </p:sp>
      <p:sp>
        <p:nvSpPr>
          <p:cNvPr id="21" name="also built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lso built icon circle"/>
          <p:cNvSpPr/>
          <p:nvPr/>
        </p:nvSpPr>
        <p:spPr>
          <a:xfrm>
            <a:off x="822960" y="48463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also buil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5063490"/>
            <a:ext cx="434340" cy="4343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965960" y="46634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Also built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96596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Banking Policy RAG assistant (FastAPI, LangChain, Azure OpenAI)  ·  FIRCO MCP server  ·  Property management RAG demo  ·  Agent Security and Governance Standard document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Lighthouse #1: TBML Investigation Agent on the platform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flow step"/>
          <p:cNvSpPr/>
          <p:nvPr/>
        </p:nvSpPr>
        <p:spPr>
          <a:xfrm>
            <a:off x="548640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rade data in circle"/>
          <p:cNvSpPr/>
          <p:nvPr/>
        </p:nvSpPr>
        <p:spPr>
          <a:xfrm>
            <a:off x="118872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rade data 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17716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Trade data 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Invoices, B/L, LC details</a:t>
            </a:r>
            <a:endParaRPr lang="en-US" sz="1150" dirty="0"/>
          </a:p>
        </p:txBody>
      </p:sp>
      <p:sp>
        <p:nvSpPr>
          <p:cNvPr id="10" name="arrow"/>
          <p:cNvSpPr/>
          <p:nvPr/>
        </p:nvSpPr>
        <p:spPr>
          <a:xfrm>
            <a:off x="2532888" y="2514600"/>
            <a:ext cx="2651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low step"/>
          <p:cNvSpPr/>
          <p:nvPr/>
        </p:nvSpPr>
        <p:spPr>
          <a:xfrm>
            <a:off x="2816352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creen circle"/>
          <p:cNvSpPr/>
          <p:nvPr/>
        </p:nvSpPr>
        <p:spPr>
          <a:xfrm>
            <a:off x="3456432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cree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2" y="17716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07792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Screen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OFAC, UN, GDELT adverse media</a:t>
            </a:r>
            <a:endParaRPr lang="en-US" sz="1150" dirty="0"/>
          </a:p>
        </p:txBody>
      </p:sp>
      <p:sp>
        <p:nvSpPr>
          <p:cNvPr id="16" name="arrow"/>
          <p:cNvSpPr/>
          <p:nvPr/>
        </p:nvSpPr>
        <p:spPr>
          <a:xfrm>
            <a:off x="4800600" y="2514600"/>
            <a:ext cx="2651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flow step"/>
          <p:cNvSpPr/>
          <p:nvPr/>
        </p:nvSpPr>
        <p:spPr>
          <a:xfrm>
            <a:off x="5084064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Reason circle"/>
          <p:cNvSpPr/>
          <p:nvPr/>
        </p:nvSpPr>
        <p:spPr>
          <a:xfrm>
            <a:off x="5724144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Reas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594" y="177165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75504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Reason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175504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Red flags, pricing, routing anomalies</a:t>
            </a:r>
            <a:endParaRPr lang="en-US" sz="1150" dirty="0"/>
          </a:p>
        </p:txBody>
      </p:sp>
      <p:sp>
        <p:nvSpPr>
          <p:cNvPr id="22" name="arrow"/>
          <p:cNvSpPr/>
          <p:nvPr/>
        </p:nvSpPr>
        <p:spPr>
          <a:xfrm>
            <a:off x="7068312" y="2514600"/>
            <a:ext cx="2651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flow step"/>
          <p:cNvSpPr/>
          <p:nvPr/>
        </p:nvSpPr>
        <p:spPr>
          <a:xfrm>
            <a:off x="7351776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nvestigator decides circle"/>
          <p:cNvSpPr/>
          <p:nvPr/>
        </p:nvSpPr>
        <p:spPr>
          <a:xfrm>
            <a:off x="7991856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nvestigator decid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306" y="177165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43216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Investigator decides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443216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Human approval, Tier 3 control</a:t>
            </a:r>
            <a:endParaRPr lang="en-US" sz="1150" dirty="0"/>
          </a:p>
        </p:txBody>
      </p:sp>
      <p:sp>
        <p:nvSpPr>
          <p:cNvPr id="28" name="arrow"/>
          <p:cNvSpPr/>
          <p:nvPr/>
        </p:nvSpPr>
        <p:spPr>
          <a:xfrm>
            <a:off x="9336024" y="2514600"/>
            <a:ext cx="2651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flow step"/>
          <p:cNvSpPr/>
          <p:nvPr/>
        </p:nvSpPr>
        <p:spPr>
          <a:xfrm>
            <a:off x="9619488" y="1417320"/>
            <a:ext cx="1965960" cy="21945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Record circle"/>
          <p:cNvSpPr/>
          <p:nvPr/>
        </p:nvSpPr>
        <p:spPr>
          <a:xfrm>
            <a:off x="10259568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Recor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018" y="1771650"/>
            <a:ext cx="342900" cy="3429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10928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710928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Case file + audit ledger</a:t>
            </a:r>
            <a:endParaRPr lang="en-US" sz="1150" dirty="0"/>
          </a:p>
        </p:txBody>
      </p:sp>
      <p:sp>
        <p:nvSpPr>
          <p:cNvPr id="34" name="why card"/>
          <p:cNvSpPr/>
          <p:nvPr/>
        </p:nvSpPr>
        <p:spPr>
          <a:xfrm>
            <a:off x="548640" y="393192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82296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Why this first</a:t>
            </a:r>
            <a:endParaRPr lang="en-US" sz="1550" dirty="0"/>
          </a:p>
        </p:txBody>
      </p:sp>
      <p:sp>
        <p:nvSpPr>
          <p:cNvPr id="36" name="Text 29"/>
          <p:cNvSpPr txBox="1"/>
          <p:nvPr/>
        </p:nvSpPr>
        <p:spPr>
          <a:xfrm>
            <a:off x="822960" y="4526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high-stakes regulatory domain: if governance works here, it works anywhere.</a:t>
            </a:r>
            <a:endParaRPr lang="en-US" sz="1300" dirty="0"/>
          </a:p>
        </p:txBody>
      </p:sp>
      <p:sp>
        <p:nvSpPr>
          <p:cNvPr id="37" name="why card"/>
          <p:cNvSpPr/>
          <p:nvPr/>
        </p:nvSpPr>
        <p:spPr>
          <a:xfrm>
            <a:off x="4297680" y="393192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What it reuses</a:t>
            </a:r>
            <a:endParaRPr lang="en-US" sz="1550" dirty="0"/>
          </a:p>
        </p:txBody>
      </p:sp>
      <p:sp>
        <p:nvSpPr>
          <p:cNvPr id="39" name="Text 32"/>
          <p:cNvSpPr txBox="1"/>
          <p:nvPr/>
        </p:nvSpPr>
        <p:spPr>
          <a:xfrm>
            <a:off x="4572000" y="4526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gateway, screening MCP, eval pipeline and audit ledger: the same services the next use cases get for free.</a:t>
            </a:r>
            <a:endParaRPr lang="en-US" sz="1300" dirty="0"/>
          </a:p>
        </p:txBody>
      </p:sp>
      <p:sp>
        <p:nvSpPr>
          <p:cNvPr id="40" name="why card"/>
          <p:cNvSpPr/>
          <p:nvPr/>
        </p:nvSpPr>
        <p:spPr>
          <a:xfrm>
            <a:off x="8046720" y="393192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4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How we measure</a:t>
            </a:r>
            <a:endParaRPr lang="en-US" sz="1550" dirty="0"/>
          </a:p>
        </p:txBody>
      </p:sp>
      <p:sp>
        <p:nvSpPr>
          <p:cNvPr id="42" name="Text 35"/>
          <p:cNvSpPr txBox="1"/>
          <p:nvPr/>
        </p:nvSpPr>
        <p:spPr>
          <a:xfrm>
            <a:off x="8321040" y="4526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Investigation cycle time, alerts closed per investigator, false-positive rate, cost per 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POC: the blueprint running as code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run banner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demo.py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  No installs, no API keys, synthetic data. Switches to Azure OpenAI with three environment variables.</a:t>
            </a:r>
            <a:endParaRPr lang="en-US" sz="1400" dirty="0"/>
          </a:p>
        </p:txBody>
      </p:sp>
      <p:sp>
        <p:nvSpPr>
          <p:cNvPr id="7" name="demo step"/>
          <p:cNvSpPr/>
          <p:nvPr/>
        </p:nvSpPr>
        <p:spPr>
          <a:xfrm>
            <a:off x="548640" y="237744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ep num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Governance blocks an ungated use case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core/governance.py</a:t>
            </a:r>
            <a:endParaRPr lang="en-US" sz="1050" dirty="0"/>
          </a:p>
        </p:txBody>
      </p:sp>
      <p:sp>
        <p:nvSpPr>
          <p:cNvPr id="12" name="demo step"/>
          <p:cNvSpPr/>
          <p:nvPr/>
        </p:nvSpPr>
        <p:spPr>
          <a:xfrm>
            <a:off x="4297680" y="237744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tep num"/>
          <p:cNvSpPr/>
          <p:nvPr/>
        </p:nvSpPr>
        <p:spPr>
          <a:xfrm>
            <a:off x="448056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Emirates ID, IBAN, phone masked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core/gateway.py</a:t>
            </a:r>
            <a:endParaRPr lang="en-US" sz="1050" dirty="0"/>
          </a:p>
        </p:txBody>
      </p:sp>
      <p:sp>
        <p:nvSpPr>
          <p:cNvPr id="17" name="demo step"/>
          <p:cNvSpPr/>
          <p:nvPr/>
        </p:nvSpPr>
        <p:spPr>
          <a:xfrm>
            <a:off x="8046720" y="237744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num"/>
          <p:cNvSpPr/>
          <p:nvPr/>
        </p:nvSpPr>
        <p:spPr>
          <a:xfrm>
            <a:off x="822960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Agent investigates trade with policy citations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agents/tbml_agent.py</a:t>
            </a:r>
            <a:endParaRPr lang="en-US" sz="1050" dirty="0"/>
          </a:p>
        </p:txBody>
      </p:sp>
      <p:sp>
        <p:nvSpPr>
          <p:cNvPr id="22" name="demo step"/>
          <p:cNvSpPr/>
          <p:nvPr/>
        </p:nvSpPr>
        <p:spPr>
          <a:xfrm>
            <a:off x="548640" y="365760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tep num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Investigator approves the escalation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HumanReviewQueue</a:t>
            </a:r>
            <a:endParaRPr lang="en-US" sz="1050" dirty="0"/>
          </a:p>
        </p:txBody>
      </p:sp>
      <p:sp>
        <p:nvSpPr>
          <p:cNvPr id="27" name="demo step"/>
          <p:cNvSpPr/>
          <p:nvPr/>
        </p:nvSpPr>
        <p:spPr>
          <a:xfrm>
            <a:off x="4297680" y="365760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tep num"/>
          <p:cNvSpPr/>
          <p:nvPr/>
        </p:nvSpPr>
        <p:spPr>
          <a:xfrm>
            <a:off x="4480560" y="3931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Murabaha on prohibited goods goes to Sharia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policies/ + agent</a:t>
            </a:r>
            <a:endParaRPr lang="en-US" sz="1050" dirty="0"/>
          </a:p>
        </p:txBody>
      </p:sp>
      <p:sp>
        <p:nvSpPr>
          <p:cNvPr id="32" name="demo step"/>
          <p:cNvSpPr/>
          <p:nvPr/>
        </p:nvSpPr>
        <p:spPr>
          <a:xfrm>
            <a:off x="8046720" y="365760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tep num"/>
          <p:cNvSpPr/>
          <p:nvPr/>
        </p:nvSpPr>
        <p:spPr>
          <a:xfrm>
            <a:off x="822960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Agent denied a payment release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core/tools.py</a:t>
            </a:r>
            <a:endParaRPr lang="en-US" sz="1050" dirty="0"/>
          </a:p>
        </p:txBody>
      </p:sp>
      <p:sp>
        <p:nvSpPr>
          <p:cNvPr id="37" name="demo step"/>
          <p:cNvSpPr/>
          <p:nvPr/>
        </p:nvSpPr>
        <p:spPr>
          <a:xfrm>
            <a:off x="548640" y="493776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tep num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Customer requests human review (CBUAE)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41732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HumanReviewQueue</a:t>
            </a:r>
            <a:endParaRPr lang="en-US" sz="1050" dirty="0"/>
          </a:p>
        </p:txBody>
      </p:sp>
      <p:sp>
        <p:nvSpPr>
          <p:cNvPr id="42" name="demo step"/>
          <p:cNvSpPr/>
          <p:nvPr/>
        </p:nvSpPr>
        <p:spPr>
          <a:xfrm>
            <a:off x="4297680" y="493776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tep num"/>
          <p:cNvSpPr/>
          <p:nvPr/>
        </p:nvSpPr>
        <p:spPr>
          <a:xfrm>
            <a:off x="4480560" y="5212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16636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Edited audit record detected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16636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core/ledger.py</a:t>
            </a:r>
            <a:endParaRPr lang="en-US" sz="1050" dirty="0"/>
          </a:p>
        </p:txBody>
      </p:sp>
      <p:sp>
        <p:nvSpPr>
          <p:cNvPr id="47" name="demo step"/>
          <p:cNvSpPr/>
          <p:nvPr/>
        </p:nvSpPr>
        <p:spPr>
          <a:xfrm>
            <a:off x="8046720" y="493776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step num"/>
          <p:cNvSpPr/>
          <p:nvPr/>
        </p:nvSpPr>
        <p:spPr>
          <a:xfrm>
            <a:off x="8229600" y="5212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891540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Gate 5 evals pass or block the release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915400" y="5650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evals/run_evals.py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Pattern 1: the AI gateway controls every model call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code panel"/>
          <p:cNvSpPr/>
          <p:nvPr/>
        </p:nvSpPr>
        <p:spPr>
          <a:xfrm>
            <a:off x="548640" y="1371600"/>
            <a:ext cx="704088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core/gateway.py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6720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complete(self, use_case_id, caller, prompt):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 = self.registry.require_runnable(use_case_id)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masked, pii = mask_pii(prompt)     # Emirates ID, IBAN,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# card, phone, email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 = max(1, len(masked) //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self.spent.get(use_case_id, 0) + tokens &gt; uc.token_budget: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BudgetExceeded(use_case_id)      # FinOps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MODEL_ROUTES[uc.tier]              # route by tier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self.provider.complete(model, masked)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self.ledger.append("llm_call", caller,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"use_case": use_case_id, "model": model,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"pii_masked": pii,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"prompt_sha256": sha256(masked)})  # hash, not 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</a:t>
            </a:r>
            <a:endParaRPr lang="en-US" sz="1250" dirty="0"/>
          </a:p>
        </p:txBody>
      </p:sp>
      <p:sp>
        <p:nvSpPr>
          <p:cNvPr id="8" name="why card"/>
          <p:cNvSpPr/>
          <p:nvPr/>
        </p:nvSpPr>
        <p:spPr>
          <a:xfrm>
            <a:off x="786384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9244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What it guarantees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19659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Nothing runs unless it is in the AI inventory and has passed its gates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Customer identifiers never reach any model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Each use case has a token budget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Every call is auditable without storing customer text</a:t>
            </a:r>
            <a:endParaRPr lang="en-US" sz="1250" dirty="0"/>
          </a:p>
        </p:txBody>
      </p:sp>
      <p:sp>
        <p:nvSpPr>
          <p:cNvPr id="11" name="production card"/>
          <p:cNvSpPr/>
          <p:nvPr/>
        </p:nvSpPr>
        <p:spPr>
          <a:xfrm>
            <a:off x="7863840" y="461772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9244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In production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1023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Azure API Management AI-gateway policies in front of UAE-hosted models. One place to change controls for the whole bank.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Pattern 2: least-privilege tools and human approval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code panel"/>
          <p:cNvSpPr/>
          <p:nvPr/>
        </p:nvSpPr>
        <p:spPr>
          <a:xfrm>
            <a:off x="548640" y="1371600"/>
            <a:ext cx="704088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core/tools.py  +  agents/tbml_agent.py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6720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Platform checks scope; the agent is never trusted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call(self, agent_id, granted_scopes, tool_name, **kw):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 = self._tools[tool_name]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tool["scope"] not in granted_scopes: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self.ledger.append("tool_denied", agent_id,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{"tool": tool_name})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PermissionError(f"{agent_id} lacks scope")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 proposes adverse actions; it never executes them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ADVERSE_ACTIONS = {"ESCALATE_STR", "HOLD_TRANSACTION",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"REFER_SHARIA", "DECLINE"}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r.action in ADVERSE_ACTIONS: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r.review_ticket = self.review.request(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trade_id, r.action, self.AGENT_ID,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"Adverse action requires human approval")</a:t>
            </a:r>
            <a:endParaRPr lang="en-US" sz="1250" dirty="0"/>
          </a:p>
        </p:txBody>
      </p:sp>
      <p:sp>
        <p:nvSpPr>
          <p:cNvPr id="8" name="why card"/>
          <p:cNvSpPr/>
          <p:nvPr/>
        </p:nvSpPr>
        <p:spPr>
          <a:xfrm>
            <a:off x="786384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9244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What it guarantees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19659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TBML agent holds read-only scopes: trade, screening, pricing, risk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 payment release attempt is denied and logged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STR escalation and Sharia referral always wait for a named human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Every proposal carries policy citations</a:t>
            </a:r>
            <a:endParaRPr lang="en-US" sz="1250" dirty="0"/>
          </a:p>
        </p:txBody>
      </p:sp>
      <p:sp>
        <p:nvSpPr>
          <p:cNvPr id="11" name="production card"/>
          <p:cNvSpPr/>
          <p:nvPr/>
        </p:nvSpPr>
        <p:spPr>
          <a:xfrm>
            <a:off x="7863840" y="461772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9244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In production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1023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MCP servers wrapping existing IBM APIC / ESB and Oracle OIC APIs, with scopes tied to Entra ID agent identities. Approvals land in case management.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Pattern 3: a tamper-evident audit ledger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code panel"/>
          <p:cNvSpPr/>
          <p:nvPr/>
        </p:nvSpPr>
        <p:spPr>
          <a:xfrm>
            <a:off x="548640" y="1371600"/>
            <a:ext cx="704088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core/ledger.py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6720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append(self, event_type, actor, payload):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 = {"seq": len(self.entries) + 1, "ts": now(),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"type": event_type, "actor": actor,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"payload": payload,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"prev_hash": self.entries[-1]["hash"]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if self.entries else GENESIS}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entry["hash"] = self._hash(entry)   # SHA-256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self.entries.append(entry)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 = GENESIS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 in self.entries: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e["prev_hash"] != prev or self._hash(e) != e["hash"]: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False, e["seq"]   # exact tampered record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e["hash"]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True, None</a:t>
            </a:r>
            <a:endParaRPr lang="en-US" sz="1250" dirty="0"/>
          </a:p>
        </p:txBody>
      </p:sp>
      <p:sp>
        <p:nvSpPr>
          <p:cNvPr id="8" name="why card"/>
          <p:cNvSpPr/>
          <p:nvPr/>
        </p:nvSpPr>
        <p:spPr>
          <a:xfrm>
            <a:off x="786384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9244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Demo output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19659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31 entries, chain intact: True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Edit one approval record, then verify again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Result: intact = False, first broken entry = #18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Auditors can replay who asked, what the agent saw, what it proposed, who approved</a:t>
            </a:r>
            <a:endParaRPr lang="en-US" sz="1250" dirty="0"/>
          </a:p>
        </p:txBody>
      </p:sp>
      <p:sp>
        <p:nvSpPr>
          <p:cNvPr id="11" name="production card"/>
          <p:cNvSpPr/>
          <p:nvPr/>
        </p:nvSpPr>
        <p:spPr>
          <a:xfrm>
            <a:off x="7863840" y="461772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9244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In production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1023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Append-only ledger tables in the bank database, streamed to the SIEM. The same hashing works in Java with no change in design.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POC results: Gate 5 evaluation on the golden set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783080"/>
                <a:gridCol w="685800"/>
                <a:gridCol w="822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Trade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Agent action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T-1001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Clean steel LC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CLEAR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T-1002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Copper priced 55% above range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ENHANCED_REVIEW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T-1003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Vague goods, high-risk route, third-party payer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ESCALATE_STR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T-1004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Vessel fuzzy-matches watchlist (0.96)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</a:rPr>
                        <a:t>ESCALATE_STR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T-1005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Murabaha on prohibited goods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REFER_SHARIA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T-1006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Under-invoicing, two transshipments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ENHANCED_REVIEW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T-1007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Clean rice Murabaha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CLEAR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T-1008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High-risk origin, third-party payer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ENHANCED_REVIEW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sult stat"/>
          <p:cNvSpPr/>
          <p:nvPr/>
        </p:nvSpPr>
        <p:spPr>
          <a:xfrm>
            <a:off x="8229600" y="1371600"/>
            <a:ext cx="3383280" cy="932688"/>
          </a:xfrm>
          <a:prstGeom prst="roundRect">
            <a:avLst>
              <a:gd name="adj" fmla="val 78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0" y="137160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1371600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correct actions</a:t>
            </a:r>
            <a:endParaRPr lang="en-US" sz="1200" dirty="0"/>
          </a:p>
        </p:txBody>
      </p:sp>
      <p:sp>
        <p:nvSpPr>
          <p:cNvPr id="9" name="result stat"/>
          <p:cNvSpPr/>
          <p:nvPr/>
        </p:nvSpPr>
        <p:spPr>
          <a:xfrm>
            <a:off x="8229600" y="2450592"/>
            <a:ext cx="33832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412480" y="2450592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2450592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flags backed by a policy citation</a:t>
            </a:r>
            <a:endParaRPr lang="en-US" sz="1200" dirty="0"/>
          </a:p>
        </p:txBody>
      </p:sp>
      <p:sp>
        <p:nvSpPr>
          <p:cNvPr id="12" name="result stat"/>
          <p:cNvSpPr/>
          <p:nvPr/>
        </p:nvSpPr>
        <p:spPr>
          <a:xfrm>
            <a:off x="8229600" y="3529584"/>
            <a:ext cx="33832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412480" y="352958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3529584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adverse actions sent to a human</a:t>
            </a:r>
            <a:endParaRPr lang="en-US" sz="1200" dirty="0"/>
          </a:p>
        </p:txBody>
      </p:sp>
      <p:sp>
        <p:nvSpPr>
          <p:cNvPr id="15" name="result stat"/>
          <p:cNvSpPr/>
          <p:nvPr/>
        </p:nvSpPr>
        <p:spPr>
          <a:xfrm>
            <a:off x="8229600" y="4608576"/>
            <a:ext cx="33832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412480" y="4608576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646920" y="4608576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raw PII in the audit log (10 items masked)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Honest scope: 8 synthetic cases prove the evaluation harness and the controls. Real accuracy is measured in the pilot on historical, investigator-labelled cases.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POC to production, without rebuilding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stage Working POC"/>
          <p:cNvSpPr/>
          <p:nvPr/>
        </p:nvSpPr>
        <p:spPr>
          <a:xfrm>
            <a:off x="548640" y="1371600"/>
            <a:ext cx="3611880" cy="685800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Today</a:t>
            </a:r>
            <a:endParaRPr lang="en-US" sz="1300" dirty="0"/>
          </a:p>
        </p:txBody>
      </p:sp>
      <p:sp>
        <p:nvSpPr>
          <p:cNvPr id="7" name="stage card"/>
          <p:cNvSpPr/>
          <p:nvPr/>
        </p:nvSpPr>
        <p:spPr>
          <a:xfrm>
            <a:off x="548640" y="228600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POC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on a laptop with synthetic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controls proven in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model or Azure OpenAI</a:t>
            </a:r>
            <a:endParaRPr lang="en-US" sz="1300" dirty="0"/>
          </a:p>
        </p:txBody>
      </p:sp>
      <p:sp>
        <p:nvSpPr>
          <p:cNvPr id="10" name="stage Pilot in shadow mode"/>
          <p:cNvSpPr/>
          <p:nvPr/>
        </p:nvSpPr>
        <p:spPr>
          <a:xfrm>
            <a:off x="4297680" y="1371600"/>
            <a:ext cx="361188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Proposed: 8–12 weeks</a:t>
            </a:r>
            <a:endParaRPr lang="en-US" sz="1300" dirty="0"/>
          </a:p>
        </p:txBody>
      </p:sp>
      <p:sp>
        <p:nvSpPr>
          <p:cNvPr id="12" name="stage card"/>
          <p:cNvSpPr/>
          <p:nvPr/>
        </p:nvSpPr>
        <p:spPr>
          <a:xfrm>
            <a:off x="4297680" y="228600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in shadow mode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UAE-region landing zone with the AI gateway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FIRCO and trade data through MCP over APIC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Agent runs alongside investigators with no customer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Measured against historical, labelled cases</a:t>
            </a:r>
            <a:endParaRPr lang="en-US" sz="1300" dirty="0"/>
          </a:p>
        </p:txBody>
      </p:sp>
      <p:sp>
        <p:nvSpPr>
          <p:cNvPr id="15" name="stage Controlled production"/>
          <p:cNvSpPr/>
          <p:nvPr/>
        </p:nvSpPr>
        <p:spPr>
          <a:xfrm>
            <a:off x="8046720" y="1371600"/>
            <a:ext cx="3611880" cy="68580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After Gate 6</a:t>
            </a:r>
            <a:endParaRPr lang="en-US" sz="1300" dirty="0"/>
          </a:p>
        </p:txBody>
      </p:sp>
      <p:sp>
        <p:nvSpPr>
          <p:cNvPr id="17" name="stage card"/>
          <p:cNvSpPr/>
          <p:nvPr/>
        </p:nvSpPr>
        <p:spPr>
          <a:xfrm>
            <a:off x="8046720" y="228600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2104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production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Approvals inside case management (maker-checker)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Drift, quality and cost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Periodic re-review by the AI Review Board</a:t>
            </a:r>
            <a:endParaRPr lang="en-US" sz="1300" dirty="0"/>
          </a:p>
        </p:txBody>
      </p:sp>
      <p:sp>
        <p:nvSpPr>
          <p:cNvPr id="20" name="what changes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138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Only the reasoning layer is new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Gateway becomes APIM policies  ·  tools become MCP servers over APIC / ESB / OIC (Java or Spring where custom code is needed)  ·  ledger becomes append-only tables  ·  review queue becomes a case-management task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start: the first 30 days, then 60 and 90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week card"/>
          <p:cNvSpPr/>
          <p:nvPr/>
        </p:nvSpPr>
        <p:spPr>
          <a:xfrm>
            <a:off x="548640" y="137160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10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Charter the AI Review Board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team declares AI in use: the first inventory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Check proxy logs for shadow AI</a:t>
            </a:r>
            <a:endParaRPr lang="en-US" sz="1350" dirty="0"/>
          </a:p>
        </p:txBody>
      </p:sp>
      <p:sp>
        <p:nvSpPr>
          <p:cNvPr id="9" name="week card"/>
          <p:cNvSpPr/>
          <p:nvPr/>
        </p:nvSpPr>
        <p:spPr>
          <a:xfrm>
            <a:off x="3337560" y="137160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Week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810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774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Approve risk tiers and the six gates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Extend DRB templates: ADR, SAD, AI risk form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Pick TBML plus one business-led use case</a:t>
            </a:r>
            <a:endParaRPr lang="en-US" sz="1350" dirty="0"/>
          </a:p>
        </p:txBody>
      </p:sp>
      <p:sp>
        <p:nvSpPr>
          <p:cNvPr id="13" name="week card"/>
          <p:cNvSpPr/>
          <p:nvPr/>
        </p:nvSpPr>
        <p:spPr>
          <a:xfrm>
            <a:off x="6126480" y="137160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Week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810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UAE-region landing zone and AI gateway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First read-only MCP server: FIRCO screening over APIC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Collect investigator-labelled cases</a:t>
            </a:r>
            <a:endParaRPr lang="en-US" sz="1350" dirty="0"/>
          </a:p>
        </p:txBody>
      </p:sp>
      <p:sp>
        <p:nvSpPr>
          <p:cNvPr id="17" name="week card"/>
          <p:cNvSpPr/>
          <p:nvPr/>
        </p:nvSpPr>
        <p:spPr>
          <a:xfrm>
            <a:off x="8915400" y="137160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Week 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810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3774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TBML agent in shadow mode on historical cases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First evaluation report to the Review Board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Baseline KPIs agreed with the business owner</a:t>
            </a:r>
            <a:endParaRPr lang="en-US" sz="1350" dirty="0"/>
          </a:p>
        </p:txBody>
      </p:sp>
      <p:sp>
        <p:nvSpPr>
          <p:cNvPr id="21" name="milestone"/>
          <p:cNvSpPr/>
          <p:nvPr/>
        </p:nvSpPr>
        <p:spPr>
          <a:xfrm>
            <a:off x="548640" y="5120640"/>
            <a:ext cx="54406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51206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Shadow mode on live alerts; MCP catalogue for screening, customer and trade</a:t>
            </a:r>
            <a:endParaRPr lang="en-US" sz="1300" dirty="0"/>
          </a:p>
        </p:txBody>
      </p:sp>
      <p:sp>
        <p:nvSpPr>
          <p:cNvPr id="24" name="milestone"/>
          <p:cNvSpPr/>
          <p:nvPr/>
        </p:nvSpPr>
        <p:spPr>
          <a:xfrm>
            <a:off x="6172200" y="5120640"/>
            <a:ext cx="54406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51206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1206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Gate 6 decision for a controlled pilot; second use case through the gates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is involved: teams and responsibilities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Workstream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Chief AI Office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Enterprise Arch.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Cloud &amp; Infra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Data Office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Cyber Security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Risk &amp; Model Risk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Compliance &amp; DPO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Sharia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Business owner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AI governance &amp; Review Board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Platform &amp; AI gateway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MCP tools over APIC / ESB / OIC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Knowledge &amp; data readiness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A/R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TBML lighthouse agent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Security &amp; red-teaming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A/R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Model validation &amp; evals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Privacy impact (PDPL)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A/R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Sharia review of AI use cases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A/R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Responsible   </a:t>
            </a:r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A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Accountable   </a:t>
            </a:r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C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Consulted   </a:t>
            </a:r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Informed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Phase 1 core squad (proposed): 1 AI architect, 2 AI engineers, 1 integration engineer, 1 data engineer, 1 platform engineer, plus named reviewers from Risk, Compliance, Cyber and Sharia.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Operating model: hub and spoke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spoke"/>
          <p:cNvSpPr/>
          <p:nvPr/>
        </p:nvSpPr>
        <p:spPr>
          <a:xfrm flipH="1">
            <a:off x="3657600" y="1858061"/>
            <a:ext cx="9144" cy="1890979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6" name="spoke"/>
          <p:cNvSpPr/>
          <p:nvPr/>
        </p:nvSpPr>
        <p:spPr>
          <a:xfrm flipH="1">
            <a:off x="3657600" y="2803550"/>
            <a:ext cx="1860950" cy="94549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spoke"/>
          <p:cNvSpPr/>
          <p:nvPr/>
        </p:nvSpPr>
        <p:spPr>
          <a:xfrm>
            <a:off x="3657600" y="3749040"/>
            <a:ext cx="1860950" cy="94549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8" name="spoke"/>
          <p:cNvSpPr/>
          <p:nvPr/>
        </p:nvSpPr>
        <p:spPr>
          <a:xfrm>
            <a:off x="3657600" y="3749040"/>
            <a:ext cx="9144" cy="1890979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9" name="spoke"/>
          <p:cNvSpPr/>
          <p:nvPr/>
        </p:nvSpPr>
        <p:spPr>
          <a:xfrm flipH="1">
            <a:off x="1796650" y="3749040"/>
            <a:ext cx="1860950" cy="94549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0" name="spoke"/>
          <p:cNvSpPr/>
          <p:nvPr/>
        </p:nvSpPr>
        <p:spPr>
          <a:xfrm>
            <a:off x="1796650" y="2803550"/>
            <a:ext cx="1860950" cy="94549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1" name="hub top"/>
          <p:cNvSpPr/>
          <p:nvPr/>
        </p:nvSpPr>
        <p:spPr>
          <a:xfrm>
            <a:off x="2606040" y="2697480"/>
            <a:ext cx="2103120" cy="21031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Chief AI Office</a:t>
            </a:r>
            <a:endParaRPr lang="en-US" sz="1600" dirty="0"/>
          </a:p>
        </p:txBody>
      </p:sp>
      <p:sp>
        <p:nvSpPr>
          <p:cNvPr id="13" name="spoke AI platform team"/>
          <p:cNvSpPr/>
          <p:nvPr/>
        </p:nvSpPr>
        <p:spPr>
          <a:xfrm>
            <a:off x="2788920" y="1510589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1510589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platform team</a:t>
            </a:r>
            <a:endParaRPr lang="en-US" sz="1200" dirty="0"/>
          </a:p>
        </p:txBody>
      </p:sp>
      <p:sp>
        <p:nvSpPr>
          <p:cNvPr id="15" name="spoke AI architecture &amp; standards"/>
          <p:cNvSpPr/>
          <p:nvPr/>
        </p:nvSpPr>
        <p:spPr>
          <a:xfrm>
            <a:off x="4649870" y="2456078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95590" y="245607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architecture &amp; standards</a:t>
            </a:r>
            <a:endParaRPr lang="en-US" sz="1200" dirty="0"/>
          </a:p>
        </p:txBody>
      </p:sp>
      <p:sp>
        <p:nvSpPr>
          <p:cNvPr id="17" name="spoke AI Review Board"/>
          <p:cNvSpPr/>
          <p:nvPr/>
        </p:nvSpPr>
        <p:spPr>
          <a:xfrm>
            <a:off x="4649870" y="4347058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95590" y="434705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AI Review Board</a:t>
            </a:r>
            <a:endParaRPr lang="en-US" sz="1200" dirty="0"/>
          </a:p>
        </p:txBody>
      </p:sp>
      <p:sp>
        <p:nvSpPr>
          <p:cNvPr id="19" name="spoke Business AI squads"/>
          <p:cNvSpPr/>
          <p:nvPr/>
        </p:nvSpPr>
        <p:spPr>
          <a:xfrm>
            <a:off x="2788920" y="5292547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5292547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Business AI squads</a:t>
            </a:r>
            <a:endParaRPr lang="en-US" sz="1200" dirty="0"/>
          </a:p>
        </p:txBody>
      </p:sp>
      <p:sp>
        <p:nvSpPr>
          <p:cNvPr id="21" name="spoke Data Office"/>
          <p:cNvSpPr/>
          <p:nvPr/>
        </p:nvSpPr>
        <p:spPr>
          <a:xfrm>
            <a:off x="927970" y="4347058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690" y="434705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Office</a:t>
            </a:r>
            <a:endParaRPr lang="en-US" sz="1200" dirty="0"/>
          </a:p>
        </p:txBody>
      </p:sp>
      <p:sp>
        <p:nvSpPr>
          <p:cNvPr id="23" name="spoke Cyber security"/>
          <p:cNvSpPr/>
          <p:nvPr/>
        </p:nvSpPr>
        <p:spPr>
          <a:xfrm>
            <a:off x="927970" y="2456078"/>
            <a:ext cx="1737360" cy="694944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3690" y="245607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Cyber security</a:t>
            </a:r>
            <a:endParaRPr lang="en-US" sz="1200" dirty="0"/>
          </a:p>
        </p:txBody>
      </p:sp>
      <p:sp>
        <p:nvSpPr>
          <p:cNvPr id="25" name="roles card"/>
          <p:cNvSpPr/>
          <p:nvPr/>
        </p:nvSpPr>
        <p:spPr>
          <a:xfrm>
            <a:off x="6766560" y="1371600"/>
            <a:ext cx="484632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04088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Who does what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05740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</a:rPr>
              <a:t>Hub: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strategy, platform, standards, governance, reusable components.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</a:rPr>
              <a:t>Spokes: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business squads own use cases, value and adoption.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</a:rPr>
              <a:t>AI Review Board: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EA DRB extended with Risk, Compliance and Sharia.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</a:rPr>
              <a:t>AI Enterprise Architect: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owns the reference architecture, ADRs and SADs, and guides squads from idea to production.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12-month roadmap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timeline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milestone"/>
          <p:cNvSpPr/>
          <p:nvPr/>
        </p:nvSpPr>
        <p:spPr>
          <a:xfrm>
            <a:off x="685800" y="161848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Phase 1  ·  0–90 days</a:t>
            </a:r>
            <a:endParaRPr lang="en-US" sz="1200" dirty="0"/>
          </a:p>
        </p:txBody>
      </p:sp>
      <p:sp>
        <p:nvSpPr>
          <p:cNvPr id="8" name="phase card"/>
          <p:cNvSpPr/>
          <p:nvPr/>
        </p:nvSpPr>
        <p:spPr>
          <a:xfrm>
            <a:off x="54864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hase label"/>
          <p:cNvSpPr/>
          <p:nvPr/>
        </p:nvSpPr>
        <p:spPr>
          <a:xfrm>
            <a:off x="822960" y="2423160"/>
            <a:ext cx="292608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23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AI gateway and secure landing zone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Six gates and AI Review Board live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Model and use-case inventory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TBML lighthouse into controlled pilot</a:t>
            </a:r>
            <a:endParaRPr lang="en-US" sz="1350" dirty="0"/>
          </a:p>
        </p:txBody>
      </p:sp>
      <p:sp>
        <p:nvSpPr>
          <p:cNvPr id="12" name="milestone"/>
          <p:cNvSpPr/>
          <p:nvPr/>
        </p:nvSpPr>
        <p:spPr>
          <a:xfrm>
            <a:off x="4434840" y="1618488"/>
            <a:ext cx="329184" cy="3291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Phase 2  ·  3–6 months</a:t>
            </a:r>
            <a:endParaRPr lang="en-US" sz="1200" dirty="0"/>
          </a:p>
        </p:txBody>
      </p:sp>
      <p:sp>
        <p:nvSpPr>
          <p:cNvPr id="14" name="phase card"/>
          <p:cNvSpPr/>
          <p:nvPr/>
        </p:nvSpPr>
        <p:spPr>
          <a:xfrm>
            <a:off x="429768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phase label"/>
          <p:cNvSpPr/>
          <p:nvPr/>
        </p:nvSpPr>
        <p:spPr>
          <a:xfrm>
            <a:off x="4572000" y="2423160"/>
            <a:ext cx="2926080" cy="594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423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2461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3–4 lighthouses in production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MCP catalogue over core banking APIs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Automated eval pipeline in CI/CD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AI literacy for business teams</a:t>
            </a:r>
            <a:endParaRPr lang="en-US" sz="1350" dirty="0"/>
          </a:p>
        </p:txBody>
      </p:sp>
      <p:sp>
        <p:nvSpPr>
          <p:cNvPr id="18" name="milestone"/>
          <p:cNvSpPr/>
          <p:nvPr/>
        </p:nvSpPr>
        <p:spPr>
          <a:xfrm>
            <a:off x="8183880" y="1618488"/>
            <a:ext cx="329184" cy="32918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Phase 3  ·  6–12 months</a:t>
            </a:r>
            <a:endParaRPr lang="en-US" sz="1200" dirty="0"/>
          </a:p>
        </p:txBody>
      </p:sp>
      <p:sp>
        <p:nvSpPr>
          <p:cNvPr id="20" name="phase card"/>
          <p:cNvSpPr/>
          <p:nvPr/>
        </p:nvSpPr>
        <p:spPr>
          <a:xfrm>
            <a:off x="8046720" y="219456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phase label"/>
          <p:cNvSpPr/>
          <p:nvPr/>
        </p:nvSpPr>
        <p:spPr>
          <a:xfrm>
            <a:off x="8321040" y="2423160"/>
            <a:ext cx="2926080" cy="59436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423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Industrialise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2461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Self-service platform for squads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FinOps chargeback per use case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Multi-agent workflows across domains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ISO/IEC 42001 readiness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measure success</a:t>
            </a:r>
            <a:endParaRPr lang="en-US" sz="3000" dirty="0"/>
          </a:p>
        </p:txBody>
      </p:sp>
      <p:sp>
        <p:nvSpPr>
          <p:cNvPr id="3" name="title motif"/>
          <p:cNvSpPr/>
          <p:nvPr/>
        </p:nvSpPr>
        <p:spPr>
          <a:xfrm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" name="title motif"/>
          <p:cNvSpPr/>
          <p:nvPr/>
        </p:nvSpPr>
        <p:spPr>
          <a:xfrm rot="2700000">
            <a:off x="11301984" y="539496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kpi card"/>
          <p:cNvSpPr/>
          <p:nvPr/>
        </p:nvSpPr>
        <p:spPr>
          <a:xfrm>
            <a:off x="548640" y="141732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Value circle"/>
          <p:cNvSpPr/>
          <p:nvPr/>
        </p:nvSpPr>
        <p:spPr>
          <a:xfrm>
            <a:off x="141732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Valu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186309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Hours saved per process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Investigation cycle time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False-positive reduction</a:t>
            </a:r>
            <a:endParaRPr lang="en-US" sz="1250" dirty="0"/>
          </a:p>
        </p:txBody>
      </p:sp>
      <p:sp>
        <p:nvSpPr>
          <p:cNvPr id="10" name="kpi card"/>
          <p:cNvSpPr/>
          <p:nvPr/>
        </p:nvSpPr>
        <p:spPr>
          <a:xfrm>
            <a:off x="3337560" y="141732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doption circle"/>
          <p:cNvSpPr/>
          <p:nvPr/>
        </p:nvSpPr>
        <p:spPr>
          <a:xfrm>
            <a:off x="420624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Adop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186309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Active users per use case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Use cases in production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Business-led squads onboarded</a:t>
            </a:r>
            <a:endParaRPr lang="en-US" sz="1250" dirty="0"/>
          </a:p>
        </p:txBody>
      </p:sp>
      <p:sp>
        <p:nvSpPr>
          <p:cNvPr id="15" name="kpi card"/>
          <p:cNvSpPr/>
          <p:nvPr/>
        </p:nvSpPr>
        <p:spPr>
          <a:xfrm>
            <a:off x="6126480" y="141732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rust circle"/>
          <p:cNvSpPr/>
          <p:nvPr/>
        </p:nvSpPr>
        <p:spPr>
          <a:xfrm>
            <a:off x="699516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Tru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86309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% use cases through all gates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Eval pass rate and incidents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Audit findings on AI: zero</a:t>
            </a:r>
            <a:endParaRPr lang="en-US" sz="1250" dirty="0"/>
          </a:p>
        </p:txBody>
      </p:sp>
      <p:sp>
        <p:nvSpPr>
          <p:cNvPr id="20" name="kpi card"/>
          <p:cNvSpPr/>
          <p:nvPr/>
        </p:nvSpPr>
        <p:spPr>
          <a:xfrm>
            <a:off x="8915400" y="141732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Cost circle"/>
          <p:cNvSpPr/>
          <p:nvPr/>
        </p:nvSpPr>
        <p:spPr>
          <a:xfrm>
            <a:off x="9784080" y="16459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Co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186309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98280" y="2651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3200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Cost per AI transaction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Token spend vs budget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Reuse rate of shared services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Baselines are captured at the intake gate, so every claimed benefit is measured against where we started.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7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What I am asking for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Governed by design. Integrated by default. Built for ADIB.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Tajudeen Jalaudin  ·  tajnaz@gmail.com  ·  github.com/Tajudeenj</a:t>
            </a:r>
            <a:endParaRPr lang="en-US" sz="1300" dirty="0"/>
          </a:p>
        </p:txBody>
      </p:sp>
      <p:sp>
        <p:nvSpPr>
          <p:cNvPr id="5" name="ask 1"/>
          <p:cNvSpPr/>
          <p:nvPr/>
        </p:nvSpPr>
        <p:spPr>
          <a:xfrm>
            <a:off x="8229600" y="9144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914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868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Endorse the platform-first blueprint and six-gate governance</a:t>
            </a:r>
            <a:endParaRPr lang="en-US" sz="1400" dirty="0"/>
          </a:p>
        </p:txBody>
      </p:sp>
      <p:sp>
        <p:nvSpPr>
          <p:cNvPr id="8" name="ask 2"/>
          <p:cNvSpPr/>
          <p:nvPr/>
        </p:nvSpPr>
        <p:spPr>
          <a:xfrm>
            <a:off x="8229600" y="20574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Approve TBML as the first lighthouse, plus one business-led use case</a:t>
            </a:r>
            <a:endParaRPr lang="en-US" sz="1400" dirty="0"/>
          </a:p>
        </p:txBody>
      </p:sp>
      <p:sp>
        <p:nvSpPr>
          <p:cNvPr id="11" name="ask 3"/>
          <p:cNvSpPr/>
          <p:nvPr/>
        </p:nvSpPr>
        <p:spPr>
          <a:xfrm>
            <a:off x="8229600" y="32004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154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Stand up the AI Review Board within 30 days</a:t>
            </a:r>
            <a:endParaRPr lang="en-US" sz="1400" dirty="0"/>
          </a:p>
        </p:txBody>
      </p:sp>
      <p:sp>
        <p:nvSpPr>
          <p:cNvPr id="14" name="close star"/>
          <p:cNvSpPr/>
          <p:nvPr/>
        </p:nvSpPr>
        <p:spPr>
          <a:xfrm>
            <a:off x="9464040" y="4983480"/>
            <a:ext cx="10058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E8B7A"/>
            </a:solidFill>
            <a:prstDash val="solid"/>
          </a:ln>
        </p:spPr>
      </p:sp>
      <p:sp>
        <p:nvSpPr>
          <p:cNvPr id="15" name="close star"/>
          <p:cNvSpPr/>
          <p:nvPr/>
        </p:nvSpPr>
        <p:spPr>
          <a:xfrm rot="2700000">
            <a:off x="9464040" y="4983480"/>
            <a:ext cx="10058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E8B7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DIB Enterprise AI Blueprint">
  <a:themeElements>
    <a:clrScheme name="ADIB Enterprise AI Blueprint">
      <a:dk1>
        <a:srgbClr val="1B2A28"/>
      </a:dk1>
      <a:lt1>
        <a:srgbClr val="FFFFFF"/>
      </a:lt1>
      <a:dk2>
        <a:srgbClr val="0B3D3A"/>
      </a:dk2>
      <a:lt2>
        <a:srgbClr val="EEF4F2"/>
      </a:lt2>
      <a:accent1>
        <a:srgbClr val="0F6E5C"/>
      </a:accent1>
      <a:accent2>
        <a:srgbClr val="C9A227"/>
      </a:accent2>
      <a:accent3>
        <a:srgbClr val="2E8B7A"/>
      </a:accent3>
      <a:accent4>
        <a:srgbClr val="6B7C79"/>
      </a:accent4>
      <a:accent5>
        <a:srgbClr val="B5452F"/>
      </a:accent5>
      <a:accent6>
        <a:srgbClr val="3E6E9E"/>
      </a:accent6>
      <a:hlink>
        <a:srgbClr val="0F6E5C"/>
      </a:hlink>
      <a:folHlink>
        <a:srgbClr val="6B7C79"/>
      </a:folHlink>
    </a:clrScheme>
    <a:fontScheme name="ADIB Enterprise AI Bluepri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Blueprint for ADIB</dc:title>
  <dc:subject>PptxGenJS Presentation</dc:subject>
  <dc:creator>Tajudeen Jalaudin</dc:creator>
  <cp:lastModifiedBy>Tajudeen Jalaudin</cp:lastModifiedBy>
  <cp:revision>1</cp:revision>
  <dcterms:created xsi:type="dcterms:W3CDTF">2026-10-02T07:33:46Z</dcterms:created>
  <dcterms:modified xsi:type="dcterms:W3CDTF">2026-10-02T07:33:46Z</dcterms:modified>
</cp:coreProperties>
</file>